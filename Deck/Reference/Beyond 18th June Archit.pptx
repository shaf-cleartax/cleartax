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embeddedFontLst>
    <p:embeddedFont>
      <p:font typeface="Helvetica Neue"/>
      <p:regular r:id="rId12"/>
      <p:bold r:id="rId13"/>
      <p:italic r:id="rId14"/>
      <p:boldItalic r:id="rId15"/>
    </p:embeddedFont>
    <p:embeddedFont>
      <p:font typeface="Host Grotesk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HelveticaNeue-bold.fntdata"/><Relationship Id="rId12" Type="http://schemas.openxmlformats.org/officeDocument/2006/relationships/font" Target="fonts/HelveticaNeue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HelveticaNeue-boldItalic.fntdata"/><Relationship Id="rId14" Type="http://schemas.openxmlformats.org/officeDocument/2006/relationships/font" Target="fonts/HelveticaNeue-italic.fntdata"/><Relationship Id="rId17" Type="http://schemas.openxmlformats.org/officeDocument/2006/relationships/font" Target="fonts/HostGrotesk-bold.fntdata"/><Relationship Id="rId16" Type="http://schemas.openxmlformats.org/officeDocument/2006/relationships/font" Target="fonts/HostGrotesk-regular.fntdata"/><Relationship Id="rId5" Type="http://schemas.openxmlformats.org/officeDocument/2006/relationships/slide" Target="slides/slide1.xml"/><Relationship Id="rId19" Type="http://schemas.openxmlformats.org/officeDocument/2006/relationships/font" Target="fonts/HostGrotesk-boldItalic.fntdata"/><Relationship Id="rId6" Type="http://schemas.openxmlformats.org/officeDocument/2006/relationships/slide" Target="slides/slide2.xml"/><Relationship Id="rId18" Type="http://schemas.openxmlformats.org/officeDocument/2006/relationships/font" Target="fonts/HostGrotesk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ec07c5f39f_2_11:notes"/>
          <p:cNvSpPr txBox="1"/>
          <p:nvPr>
            <p:ph idx="1" type="body"/>
          </p:nvPr>
        </p:nvSpPr>
        <p:spPr>
          <a:xfrm>
            <a:off x="914400" y="5791200"/>
            <a:ext cx="50292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KSA (Saudi Arabia)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AI-driven real-time invoice validations and anomaly detection were crucial in achieving over 99% first-pass acceptance rates under ZATCA’s e-invoicing mandate.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Self-learning compliance bots helped organizations adapt instantly to frequent ZATCA schema updates, minimizing expensive integration rewrites.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France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Introduction of machine-learning-based invoice format converters accelerated onboarding of diverse ERP and billing systems, drastically reducing manual mapping effort.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AI-powered reporting agents enabled seamless transition from periodic to continuous transaction controls (CTC) as France prepares for global interoperability.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India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At scale, AI clustering and fraud detection flagged suspect invoices in 12 billion+ transactions every year, helping reduce tax evasion and empowering government analytics.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Integration of natural language processing (NLP) enabled enterprises to surface insights from invoice notes/comments, automating GST reconciliation and dispute handling.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Brazil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Brazil’s real-time e-invoicing (NF-e) required AI to auto-classify complex product/service codes and validate tax compliance inline, enabling the government to recover over 58B USD in tax gaps since rollout.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AI-enabled credit risk analysis from standardized invoice data supported new supply chain financing models and SME lending.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Mexico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Over 90% of SMEs use AI-driven CFDI data extraction and validation to access digital credit, unlocking easier supply chain finance based on reliable, government-stamped documentation.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Machine learning algorithms trained on historical invoicing data auto-detect compliance gaps and generate recommendations for timely remediation.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EU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The adoption of AI-powered Peppol mapping and validation agents dramatically reduced integration time for cross-border e-invoicing partners, driving Europe towards full VAT gap closure.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Predictive analytics surfaced discrepancies in multi-country VAT submissions early, supporting CFOs in proactive audit preparation and regulatory response.</a:t>
            </a:r>
            <a:br>
              <a:rPr lang="en-US">
                <a:solidFill>
                  <a:schemeClr val="dk1"/>
                </a:solidFill>
              </a:rPr>
            </a:br>
            <a:br>
              <a:rPr lang="en-US">
                <a:solidFill>
                  <a:schemeClr val="dk1"/>
                </a:solidFill>
              </a:rPr>
            </a:b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Source: OECD/CIAT:</a:t>
            </a:r>
            <a:r>
              <a:rPr b="1" lang="en-US">
                <a:solidFill>
                  <a:schemeClr val="dk1"/>
                </a:solidFill>
              </a:rPr>
              <a:t> Brazil: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i="1" lang="en-US">
                <a:solidFill>
                  <a:schemeClr val="dk1"/>
                </a:solidFill>
              </a:rPr>
              <a:t>“Recovered over $58B in tax revenues through e-invoicing since rollout.”</a:t>
            </a:r>
            <a:r>
              <a:rPr lang="en-U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Source: World Bank 2019:</a:t>
            </a:r>
            <a:r>
              <a:rPr b="1" lang="en-US">
                <a:solidFill>
                  <a:schemeClr val="dk1"/>
                </a:solidFill>
              </a:rPr>
              <a:t>  Mexico: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i="1" lang="en-US">
                <a:solidFill>
                  <a:schemeClr val="dk1"/>
                </a:solidFill>
              </a:rPr>
              <a:t>“90% of SMEs use CFDI data to access credit lines and supply chain financing.”</a:t>
            </a:r>
            <a:r>
              <a:rPr lang="en-U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Source:</a:t>
            </a:r>
            <a:r>
              <a:rPr b="1" lang="en-US">
                <a:solidFill>
                  <a:schemeClr val="dk1"/>
                </a:solidFill>
              </a:rPr>
              <a:t> </a:t>
            </a:r>
            <a:r>
              <a:rPr lang="en-US">
                <a:solidFill>
                  <a:schemeClr val="dk1"/>
                </a:solidFill>
              </a:rPr>
              <a:t>European Commission VAT Gap Report 2023 </a:t>
            </a:r>
            <a:r>
              <a:rPr b="1" lang="en-US">
                <a:solidFill>
                  <a:schemeClr val="dk1"/>
                </a:solidFill>
              </a:rPr>
              <a:t>Europe: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i="1" lang="en-US">
                <a:solidFill>
                  <a:schemeClr val="dk1"/>
                </a:solidFill>
              </a:rPr>
              <a:t>“EU estimates €134B VAT gap; e-invoicing expected to close a significant portion by 2030.”</a:t>
            </a:r>
            <a:r>
              <a:rPr lang="en-U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rPr>
              <a:t>India</a:t>
            </a:r>
            <a:endParaRPr b="1" sz="1300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1" lang="en-US" sz="1300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rPr>
              <a:t>12B+ invoices annually</a:t>
            </a:r>
            <a:r>
              <a:rPr lang="en-US" sz="1300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rPr>
              <a:t> processed through the national GST e-invoicing system</a:t>
            </a:r>
            <a:endParaRPr sz="1300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ost Grotesk"/>
              <a:buNone/>
            </a:pPr>
            <a:r>
              <a:rPr lang="en-US" sz="1300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rPr>
              <a:t>Fraud reduced, tax transparency improved</a:t>
            </a:r>
            <a:endParaRPr sz="1300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ost Grotesk"/>
              <a:buNone/>
            </a:pPr>
            <a:r>
              <a:rPr lang="en-US" sz="1300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rPr>
              <a:t>Built foundation for cash flow visibility and AI-driven analytics</a:t>
            </a:r>
            <a:endParaRPr sz="1300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rPr>
              <a:t>Brazil &amp; Mexico</a:t>
            </a:r>
            <a:endParaRPr b="1" sz="1300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sz="1300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rPr>
              <a:t>Closed </a:t>
            </a:r>
            <a:r>
              <a:rPr b="1" lang="en-US" sz="1300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rPr>
              <a:t>billions in tax gap</a:t>
            </a:r>
            <a:r>
              <a:rPr lang="en-US" sz="1300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rPr>
              <a:t> via real-time invoice reporting</a:t>
            </a:r>
            <a:endParaRPr sz="1300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sz="1300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rPr>
              <a:t>Verified invoice data enabled </a:t>
            </a:r>
            <a:r>
              <a:rPr b="1" lang="en-US" sz="1300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rPr>
              <a:t>supply-chain financing</a:t>
            </a:r>
            <a:r>
              <a:rPr lang="en-US" sz="1300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rPr>
              <a:t> and better credit access</a:t>
            </a:r>
            <a:endParaRPr sz="1300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ost Grotesk"/>
              <a:buNone/>
            </a:pPr>
            <a:r>
              <a:rPr lang="en-US" sz="1300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rPr>
              <a:t>Strengthened trust between businesses and regulators</a:t>
            </a:r>
            <a:endParaRPr sz="1300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rPr>
              <a:t>Europe</a:t>
            </a:r>
            <a:endParaRPr b="1" sz="1300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sz="1300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rPr>
              <a:t>Moving toward </a:t>
            </a:r>
            <a:r>
              <a:rPr b="1" lang="en-US" sz="1300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rPr>
              <a:t>cross-border interoperability &amp; real-time reporting</a:t>
            </a:r>
            <a:endParaRPr b="1" sz="1300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sz="1300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rPr>
              <a:t>CFOs gaining visibility into </a:t>
            </a:r>
            <a:r>
              <a:rPr b="1" lang="en-US" sz="1300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rPr>
              <a:t>multi-country VAT compliance</a:t>
            </a:r>
            <a:endParaRPr b="1" sz="1300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300"/>
              <a:buFont typeface="Host Grotesk"/>
              <a:buNone/>
            </a:pPr>
            <a:r>
              <a:rPr lang="en-US" sz="1300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rPr>
              <a:t>Peppol adoption is setting the benchmark for France’s future interoperability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35" name="Google Shape;35;g3ec07c5f39f_2_11:notes"/>
          <p:cNvSpPr/>
          <p:nvPr>
            <p:ph idx="2" type="sldImg"/>
          </p:nvPr>
        </p:nvSpPr>
        <p:spPr>
          <a:xfrm>
            <a:off x="1143000" y="914400"/>
            <a:ext cx="4572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ebedafc9ed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3ebedafc9ed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ebedafc9ed_0_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c07c5f39f_3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ec07c5f39f_3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ec07c5f39f_3_1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c07c5f39f_2_253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ec07c5f39f_2_253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AI </a:t>
            </a:r>
            <a:br>
              <a:rPr lang="en-US"/>
            </a:br>
            <a:r>
              <a:rPr b="1" lang="en-US"/>
              <a:t>Data: </a:t>
            </a:r>
            <a:r>
              <a:rPr lang="en-US"/>
              <a:t>AI is only useful in real life when it sits on a purpose-built Finance Data Lake.</a:t>
            </a:r>
            <a:br>
              <a:rPr lang="en-US"/>
            </a:br>
            <a:r>
              <a:rPr b="1" lang="en-US"/>
              <a:t>Mindset:</a:t>
            </a:r>
            <a:r>
              <a:rPr lang="en-US"/>
              <a:t> Think AI As Leverage. Not Just Automation, AI is unlike traditional software. The way you purchase, implement, and how you reap benefits is very different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ec07c5f39f_2_253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c07c5f39f_0_48:notes"/>
          <p:cNvSpPr/>
          <p:nvPr>
            <p:ph idx="2" type="sldImg"/>
          </p:nvPr>
        </p:nvSpPr>
        <p:spPr>
          <a:xfrm>
            <a:off x="457200" y="762000"/>
            <a:ext cx="3657600" cy="2057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ec07c5f39f_0_48:notes"/>
          <p:cNvSpPr txBox="1"/>
          <p:nvPr>
            <p:ph idx="1" type="body"/>
          </p:nvPr>
        </p:nvSpPr>
        <p:spPr>
          <a:xfrm>
            <a:off x="457200" y="2933700"/>
            <a:ext cx="36576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ec07c5f39f_0_48:notes"/>
          <p:cNvSpPr txBox="1"/>
          <p:nvPr>
            <p:ph idx="12" type="sldNum"/>
          </p:nvPr>
        </p:nvSpPr>
        <p:spPr>
          <a:xfrm>
            <a:off x="2589742" y="5790142"/>
            <a:ext cx="19812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c07c5f39f_0_191:notes"/>
          <p:cNvSpPr/>
          <p:nvPr>
            <p:ph idx="2" type="sldImg"/>
          </p:nvPr>
        </p:nvSpPr>
        <p:spPr>
          <a:xfrm>
            <a:off x="0" y="0"/>
            <a:ext cx="3999900" cy="3999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g3ec07c5f39f_0_191:notes"/>
          <p:cNvSpPr txBox="1"/>
          <p:nvPr>
            <p:ph idx="1" type="body"/>
          </p:nvPr>
        </p:nvSpPr>
        <p:spPr>
          <a:xfrm>
            <a:off x="0" y="0"/>
            <a:ext cx="39999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86" name="Google Shape;186;g3ec07c5f39f_0_191:notes"/>
          <p:cNvSpPr txBox="1"/>
          <p:nvPr>
            <p:ph idx="12" type="sldNum"/>
          </p:nvPr>
        </p:nvSpPr>
        <p:spPr>
          <a:xfrm>
            <a:off x="0" y="0"/>
            <a:ext cx="39999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">
  <p:cSld name="CUSTOM_7_1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11409045" y="6333135"/>
            <a:ext cx="731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9FF"/>
              </a:buClr>
              <a:buSzPts val="1100"/>
              <a:buFont typeface="Helvetica Neue"/>
              <a:buNone/>
              <a:defRPr b="0" i="0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9FF"/>
              </a:buClr>
              <a:buSzPts val="1100"/>
              <a:buFont typeface="Helvetica Neue"/>
              <a:buNone/>
              <a:defRPr b="0" i="0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9FF"/>
              </a:buClr>
              <a:buSzPts val="1100"/>
              <a:buFont typeface="Helvetica Neue"/>
              <a:buNone/>
              <a:defRPr b="0" i="0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9FF"/>
              </a:buClr>
              <a:buSzPts val="1100"/>
              <a:buFont typeface="Helvetica Neue"/>
              <a:buNone/>
              <a:defRPr b="0" i="0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9FF"/>
              </a:buClr>
              <a:buSzPts val="1100"/>
              <a:buFont typeface="Helvetica Neue"/>
              <a:buNone/>
              <a:defRPr b="0" i="0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9FF"/>
              </a:buClr>
              <a:buSzPts val="1100"/>
              <a:buFont typeface="Helvetica Neue"/>
              <a:buNone/>
              <a:defRPr b="0" i="0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9FF"/>
              </a:buClr>
              <a:buSzPts val="1100"/>
              <a:buFont typeface="Helvetica Neue"/>
              <a:buNone/>
              <a:defRPr b="0" i="0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9FF"/>
              </a:buClr>
              <a:buSzPts val="1100"/>
              <a:buFont typeface="Helvetica Neue"/>
              <a:buNone/>
              <a:defRPr b="0" i="0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9FF"/>
              </a:buClr>
              <a:buSzPts val="1100"/>
              <a:buFont typeface="Helvetica Neue"/>
              <a:buNone/>
              <a:defRPr b="0" i="0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3" title="7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84"/>
            <a:ext cx="12192005" cy="6858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"/>
            <a:ext cx="12192005" cy="83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 1">
  <p:cSld name="TITLE_1_2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11537809" y="379545"/>
            <a:ext cx="147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9FF"/>
              </a:buClr>
              <a:buSzPts val="1100"/>
              <a:buFont typeface="Helvetica Neue"/>
              <a:buNone/>
              <a:defRPr b="0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9FF"/>
              </a:buClr>
              <a:buSzPts val="1100"/>
              <a:buFont typeface="Helvetica Neue"/>
              <a:buNone/>
              <a:defRPr b="0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9FF"/>
              </a:buClr>
              <a:buSzPts val="1100"/>
              <a:buFont typeface="Helvetica Neue"/>
              <a:buNone/>
              <a:defRPr b="0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9FF"/>
              </a:buClr>
              <a:buSzPts val="1100"/>
              <a:buFont typeface="Helvetica Neue"/>
              <a:buNone/>
              <a:defRPr b="0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9FF"/>
              </a:buClr>
              <a:buSzPts val="1100"/>
              <a:buFont typeface="Helvetica Neue"/>
              <a:buNone/>
              <a:defRPr b="0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9FF"/>
              </a:buClr>
              <a:buSzPts val="1100"/>
              <a:buFont typeface="Helvetica Neue"/>
              <a:buNone/>
              <a:defRPr b="0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9FF"/>
              </a:buClr>
              <a:buSzPts val="1100"/>
              <a:buFont typeface="Helvetica Neue"/>
              <a:buNone/>
              <a:defRPr b="0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9FF"/>
              </a:buClr>
              <a:buSzPts val="1100"/>
              <a:buFont typeface="Helvetica Neue"/>
              <a:buNone/>
              <a:defRPr b="0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9FF"/>
              </a:buClr>
              <a:buSzPts val="1100"/>
              <a:buFont typeface="Helvetica Neue"/>
              <a:buNone/>
              <a:defRPr b="0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7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Relationship Id="rId5" Type="http://schemas.openxmlformats.org/officeDocument/2006/relationships/image" Target="../media/image11.jpg"/><Relationship Id="rId6" Type="http://schemas.openxmlformats.org/officeDocument/2006/relationships/image" Target="../media/image21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24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goldbar.png" id="22" name="Google Shape;2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1695" cy="1188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" name="Google Shape;23;p5"/>
          <p:cNvGrpSpPr/>
          <p:nvPr/>
        </p:nvGrpSpPr>
        <p:grpSpPr>
          <a:xfrm>
            <a:off x="571526" y="3028062"/>
            <a:ext cx="2723354" cy="421231"/>
            <a:chOff x="723900" y="3796803"/>
            <a:chExt cx="2190600" cy="450900"/>
          </a:xfrm>
        </p:grpSpPr>
        <p:sp>
          <p:nvSpPr>
            <p:cNvPr id="24" name="Google Shape;24;p5"/>
            <p:cNvSpPr/>
            <p:nvPr/>
          </p:nvSpPr>
          <p:spPr>
            <a:xfrm>
              <a:off x="723900" y="3796803"/>
              <a:ext cx="2190600" cy="4509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DFECFF"/>
                </a:gs>
                <a:gs pos="100000">
                  <a:srgbClr val="DFECFF">
                    <a:alpha val="0"/>
                  </a:srgbClr>
                </a:gs>
              </a:gsLst>
              <a:lin ang="3001153" scaled="0"/>
            </a:gradFill>
            <a:ln cap="flat" cmpd="sng" w="17675">
              <a:solidFill>
                <a:srgbClr val="C6D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875" lIns="84875" spcFirstLastPara="1" rIns="84875" wrap="square" tIns="8487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870"/>
                </a:spcBef>
                <a:spcAft>
                  <a:spcPts val="870"/>
                </a:spcAft>
                <a:buClr>
                  <a:srgbClr val="000000"/>
                </a:buClr>
                <a:buSzPts val="1119"/>
                <a:buFont typeface="Arial"/>
                <a:buNone/>
              </a:pPr>
              <a:r>
                <a:t/>
              </a:r>
              <a:endParaRPr b="0" i="0" sz="1119" u="none" cap="none" strike="noStrike">
                <a:solidFill>
                  <a:srgbClr val="000000"/>
                </a:solidFill>
                <a:latin typeface="Host Grotesk"/>
                <a:ea typeface="Host Grotesk"/>
                <a:cs typeface="Host Grotesk"/>
                <a:sym typeface="Host Grotesk"/>
              </a:endParaRPr>
            </a:p>
          </p:txBody>
        </p:sp>
        <p:sp>
          <p:nvSpPr>
            <p:cNvPr id="25" name="Google Shape;25;p5"/>
            <p:cNvSpPr/>
            <p:nvPr/>
          </p:nvSpPr>
          <p:spPr>
            <a:xfrm>
              <a:off x="852150" y="3867603"/>
              <a:ext cx="1934100" cy="3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A6BD0"/>
                </a:buClr>
                <a:buSzPts val="1914"/>
                <a:buFont typeface="Calibri"/>
                <a:buNone/>
              </a:pPr>
              <a:r>
                <a:rPr b="1" i="0" lang="en-US" sz="1492" u="none" cap="none" strike="noStrike">
                  <a:solidFill>
                    <a:srgbClr val="1E50A8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BEYOND   ·  DUBAI  ·  2026</a:t>
              </a:r>
              <a:endParaRPr i="0" sz="1492" u="none" cap="none" strike="noStrike">
                <a:solidFill>
                  <a:srgbClr val="1E50A8"/>
                </a:solidFill>
                <a:latin typeface="Host Grotesk"/>
                <a:ea typeface="Host Grotesk"/>
                <a:cs typeface="Host Grotesk"/>
                <a:sym typeface="Host Grotesk"/>
              </a:endParaRPr>
            </a:p>
          </p:txBody>
        </p:sp>
      </p:grpSp>
      <p:sp>
        <p:nvSpPr>
          <p:cNvPr id="26" name="Google Shape;26;p5"/>
          <p:cNvSpPr/>
          <p:nvPr/>
        </p:nvSpPr>
        <p:spPr>
          <a:xfrm>
            <a:off x="571500" y="3627875"/>
            <a:ext cx="8567100" cy="16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E50A8"/>
              </a:buClr>
              <a:buSzPts val="7043"/>
              <a:buFont typeface="Calibri"/>
              <a:buNone/>
            </a:pPr>
            <a:r>
              <a:rPr b="1" lang="en-US" sz="5600">
                <a:solidFill>
                  <a:srgbClr val="1E50A8"/>
                </a:solidFill>
                <a:latin typeface="Host Grotesk"/>
                <a:ea typeface="Host Grotesk"/>
                <a:cs typeface="Host Grotesk"/>
                <a:sym typeface="Host Grotesk"/>
              </a:rPr>
              <a:t>The UAE </a:t>
            </a:r>
            <a:endParaRPr b="1" sz="5600">
              <a:solidFill>
                <a:srgbClr val="1E50A8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E50A8"/>
              </a:buClr>
              <a:buSzPts val="7043"/>
              <a:buFont typeface="Calibri"/>
              <a:buNone/>
            </a:pPr>
            <a:r>
              <a:rPr b="1" lang="en-US" sz="5600">
                <a:solidFill>
                  <a:srgbClr val="1E50A8"/>
                </a:solidFill>
                <a:latin typeface="Host Grotesk"/>
                <a:ea typeface="Host Grotesk"/>
                <a:cs typeface="Host Grotesk"/>
                <a:sym typeface="Host Grotesk"/>
              </a:rPr>
              <a:t>Digital Tax Future  </a:t>
            </a:r>
            <a:endParaRPr b="1" i="0" sz="5600" u="none" cap="none" strike="noStrike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  <p:sp>
        <p:nvSpPr>
          <p:cNvPr id="27" name="Google Shape;27;p5"/>
          <p:cNvSpPr/>
          <p:nvPr/>
        </p:nvSpPr>
        <p:spPr>
          <a:xfrm>
            <a:off x="571500" y="5247775"/>
            <a:ext cx="59901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2603"/>
              <a:buFont typeface="Calibri"/>
              <a:buNone/>
            </a:pPr>
            <a:r>
              <a:rPr lang="en-US" sz="3200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rPr>
              <a:t>What comes after e-Invoicing</a:t>
            </a:r>
            <a:endParaRPr sz="3200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  <p:pic>
        <p:nvPicPr>
          <p:cNvPr descr="preencoded.png" id="28" name="Google Shape;2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2900"/>
            <a:ext cx="1377149" cy="313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5" title="shutterstock_2314567365 [Converted]11111 1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38599" y="6062900"/>
            <a:ext cx="1377150" cy="960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5" title="11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404066" y="118875"/>
            <a:ext cx="1377147" cy="1275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5" title="shutterstock_2314567365 [Converted]11111 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2699996">
            <a:off x="-523043" y="1222578"/>
            <a:ext cx="1161410" cy="107549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/>
          <p:nvPr/>
        </p:nvSpPr>
        <p:spPr>
          <a:xfrm>
            <a:off x="571525" y="6157425"/>
            <a:ext cx="30267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1C1C"/>
                </a:solidFill>
                <a:latin typeface="Host Grotesk"/>
                <a:ea typeface="Host Grotesk"/>
                <a:cs typeface="Host Grotesk"/>
                <a:sym typeface="Host Grotesk"/>
              </a:rPr>
              <a:t>Archit Gupta</a:t>
            </a:r>
            <a:endParaRPr b="1" sz="1500">
              <a:solidFill>
                <a:srgbClr val="1C1C1C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00" u="none" cap="none" strike="noStrike">
                <a:solidFill>
                  <a:srgbClr val="1C1C1C"/>
                </a:solidFill>
                <a:latin typeface="Host Grotesk"/>
                <a:ea typeface="Host Grotesk"/>
                <a:cs typeface="Host Grotesk"/>
                <a:sym typeface="Host Grotesk"/>
              </a:rPr>
              <a:t>CEO &amp; Founder </a:t>
            </a:r>
            <a:endParaRPr i="0" sz="900" u="none" cap="none" strike="noStrike">
              <a:solidFill>
                <a:srgbClr val="1C1C1C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5"/>
            <a:ext cx="12192005" cy="8334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7933510" y="1456925"/>
            <a:ext cx="3491700" cy="5029200"/>
          </a:xfrm>
          <a:prstGeom prst="roundRect">
            <a:avLst>
              <a:gd fmla="val 8750" name="adj"/>
            </a:avLst>
          </a:prstGeom>
          <a:gradFill>
            <a:gsLst>
              <a:gs pos="0">
                <a:schemeClr val="lt1"/>
              </a:gs>
              <a:gs pos="100000">
                <a:srgbClr val="DFECFF">
                  <a:alpha val="0"/>
                </a:srgbClr>
              </a:gs>
            </a:gsLst>
            <a:lin ang="5400700" scaled="0"/>
          </a:gradFill>
          <a:ln cap="flat" cmpd="sng" w="12575">
            <a:solidFill>
              <a:srgbClr val="CCE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0550" lIns="120550" spcFirstLastPara="1" rIns="120550" wrap="square" tIns="120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10"/>
          </a:p>
        </p:txBody>
      </p:sp>
      <p:sp>
        <p:nvSpPr>
          <p:cNvPr id="39" name="Google Shape;39;p6"/>
          <p:cNvSpPr txBox="1"/>
          <p:nvPr/>
        </p:nvSpPr>
        <p:spPr>
          <a:xfrm>
            <a:off x="8131200" y="1804881"/>
            <a:ext cx="3096300" cy="43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7975" lIns="107975" spcFirstLastPara="1" rIns="107975" wrap="square" tIns="1079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9"/>
              <a:buFont typeface="Arial"/>
              <a:buNone/>
            </a:pPr>
            <a:r>
              <a:rPr b="1" lang="en-US" sz="1600">
                <a:solidFill>
                  <a:srgbClr val="0B5394"/>
                </a:solidFill>
                <a:latin typeface="Host Grotesk"/>
                <a:ea typeface="Host Grotesk"/>
                <a:cs typeface="Host Grotesk"/>
                <a:sym typeface="Host Grotesk"/>
              </a:rPr>
              <a:t>KSA - b2c + VAT pre-fill audit</a:t>
            </a:r>
            <a:endParaRPr b="1" sz="1600">
              <a:solidFill>
                <a:srgbClr val="0B5394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9"/>
              <a:buFont typeface="Arial"/>
              <a:buNone/>
            </a:pPr>
            <a:r>
              <a:rPr lang="en-US" sz="1000">
                <a:solidFill>
                  <a:srgbClr val="0B5394"/>
                </a:solidFill>
                <a:latin typeface="Host Grotesk"/>
                <a:ea typeface="Host Grotesk"/>
                <a:cs typeface="Host Grotesk"/>
                <a:sym typeface="Host Grotesk"/>
              </a:rPr>
              <a:t>Leading the way in real-time B2C e-invoicing, </a:t>
            </a:r>
            <a:r>
              <a:rPr lang="en-US" sz="1000">
                <a:solidFill>
                  <a:srgbClr val="0B5394"/>
                </a:solidFill>
                <a:latin typeface="Host Grotesk"/>
                <a:ea typeface="Host Grotesk"/>
                <a:cs typeface="Host Grotesk"/>
                <a:sym typeface="Host Grotesk"/>
              </a:rPr>
              <a:t>&amp; VAT pre-fill live. ZATCA cross-references e-invoice data against returns — mismatches trigger notices</a:t>
            </a:r>
            <a:r>
              <a:rPr lang="en-US" sz="900">
                <a:solidFill>
                  <a:srgbClr val="0B5394"/>
                </a:solidFill>
                <a:latin typeface="Host Grotesk"/>
                <a:ea typeface="Host Grotesk"/>
                <a:cs typeface="Host Grotesk"/>
                <a:sym typeface="Host Grotesk"/>
              </a:rPr>
              <a:t>.</a:t>
            </a:r>
            <a:endParaRPr b="1" sz="1500">
              <a:solidFill>
                <a:srgbClr val="0B5394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B5394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B5394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B5394"/>
                </a:solidFill>
                <a:latin typeface="Host Grotesk"/>
                <a:ea typeface="Host Grotesk"/>
                <a:cs typeface="Host Grotesk"/>
                <a:sym typeface="Host Grotesk"/>
              </a:rPr>
              <a:t>India - scale</a:t>
            </a:r>
            <a:endParaRPr b="1" sz="1600">
              <a:solidFill>
                <a:srgbClr val="0B5394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B5394"/>
                </a:solidFill>
                <a:latin typeface="Host Grotesk"/>
                <a:ea typeface="Host Grotesk"/>
                <a:cs typeface="Host Grotesk"/>
                <a:sym typeface="Host Grotesk"/>
              </a:rPr>
              <a:t>12B+ invoices processed annually covering $2.4 trillion economy; 1 in 10 invoices flows via Cleartax</a:t>
            </a:r>
            <a:endParaRPr sz="1000">
              <a:solidFill>
                <a:srgbClr val="0B5394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B5394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8">
              <a:solidFill>
                <a:srgbClr val="0B5394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B5394"/>
                </a:solidFill>
                <a:latin typeface="Host Grotesk"/>
                <a:ea typeface="Host Grotesk"/>
                <a:cs typeface="Host Grotesk"/>
                <a:sym typeface="Host Grotesk"/>
              </a:rPr>
              <a:t>Italy - VAT gap: 20% → &lt;10%</a:t>
            </a:r>
            <a:endParaRPr b="1" sz="1600">
              <a:solidFill>
                <a:srgbClr val="0B5394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B5394"/>
                </a:solidFill>
                <a:latin typeface="Host Grotesk"/>
                <a:ea typeface="Host Grotesk"/>
                <a:cs typeface="Host Grotesk"/>
                <a:sym typeface="Host Grotesk"/>
              </a:rPr>
              <a:t>Audit scrutiny escalates fast once governments have invoice data</a:t>
            </a:r>
            <a:endParaRPr sz="1000">
              <a:solidFill>
                <a:srgbClr val="0B5394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8">
              <a:solidFill>
                <a:srgbClr val="0B5394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8">
              <a:solidFill>
                <a:srgbClr val="0B5394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B5394"/>
                </a:solidFill>
                <a:latin typeface="Host Grotesk"/>
                <a:ea typeface="Host Grotesk"/>
                <a:cs typeface="Host Grotesk"/>
                <a:sym typeface="Host Grotesk"/>
              </a:rPr>
              <a:t>Belgium - PEPPOL </a:t>
            </a:r>
            <a:endParaRPr b="1" sz="1600">
              <a:solidFill>
                <a:srgbClr val="0B5394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B5394"/>
                </a:solidFill>
                <a:latin typeface="Host Grotesk"/>
                <a:ea typeface="Host Grotesk"/>
                <a:cs typeface="Host Grotesk"/>
                <a:sym typeface="Host Grotesk"/>
              </a:rPr>
              <a:t>Complexity grows faster than non-specialists can absorb.</a:t>
            </a:r>
            <a:endParaRPr sz="900">
              <a:solidFill>
                <a:srgbClr val="0B5394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766800" y="4137777"/>
            <a:ext cx="7049100" cy="2348400"/>
          </a:xfrm>
          <a:prstGeom prst="roundRect">
            <a:avLst>
              <a:gd fmla="val 5715" name="adj"/>
            </a:avLst>
          </a:prstGeom>
          <a:gradFill>
            <a:gsLst>
              <a:gs pos="0">
                <a:srgbClr val="0A6CD1"/>
              </a:gs>
              <a:gs pos="100000">
                <a:srgbClr val="5C33E6"/>
              </a:gs>
            </a:gsLst>
            <a:lin ang="3001153" scaled="0"/>
          </a:gradFill>
          <a:ln>
            <a:noFill/>
          </a:ln>
        </p:spPr>
        <p:txBody>
          <a:bodyPr anchorCtr="0" anchor="ctr" bIns="116150" lIns="116150" spcFirstLastPara="1" rIns="116150" wrap="square" tIns="116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10"/>
          </a:p>
        </p:txBody>
      </p:sp>
      <p:sp>
        <p:nvSpPr>
          <p:cNvPr id="41" name="Google Shape;41;p6"/>
          <p:cNvSpPr/>
          <p:nvPr/>
        </p:nvSpPr>
        <p:spPr>
          <a:xfrm>
            <a:off x="766800" y="1461754"/>
            <a:ext cx="7049100" cy="3938700"/>
          </a:xfrm>
          <a:prstGeom prst="roundRect">
            <a:avLst>
              <a:gd fmla="val 5715" name="adj"/>
            </a:avLst>
          </a:prstGeom>
          <a:solidFill>
            <a:schemeClr val="lt1"/>
          </a:solidFill>
          <a:ln cap="flat" cmpd="sng" w="121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6150" lIns="116150" spcFirstLastPara="1" rIns="116150" wrap="square" tIns="116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10"/>
          </a:p>
        </p:txBody>
      </p:sp>
      <p:sp>
        <p:nvSpPr>
          <p:cNvPr id="42" name="Google Shape;42;p6"/>
          <p:cNvSpPr txBox="1"/>
          <p:nvPr/>
        </p:nvSpPr>
        <p:spPr>
          <a:xfrm>
            <a:off x="766800" y="5577535"/>
            <a:ext cx="69495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150" lIns="116150" spcFirstLastPara="1" rIns="116150" wrap="square" tIns="1161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chemeClr val="lt1"/>
                </a:solidFill>
                <a:latin typeface="Host Grotesk"/>
                <a:ea typeface="Host Grotesk"/>
                <a:cs typeface="Host Grotesk"/>
                <a:sym typeface="Host Grotesk"/>
              </a:rPr>
              <a:t>UAE</a:t>
            </a:r>
            <a:r>
              <a:rPr b="1" lang="en-US" sz="1525">
                <a:solidFill>
                  <a:schemeClr val="lt1"/>
                </a:solidFill>
                <a:latin typeface="Host Grotesk"/>
                <a:ea typeface="Host Grotesk"/>
                <a:cs typeface="Host Grotesk"/>
                <a:sym typeface="Host Grotesk"/>
              </a:rPr>
              <a:t> is at the same turning point that KSA, Italy, Belgium, and India once faced. </a:t>
            </a:r>
            <a:r>
              <a:rPr lang="en-US" sz="1525">
                <a:solidFill>
                  <a:schemeClr val="lt1"/>
                </a:solidFill>
                <a:latin typeface="Host Grotesk"/>
                <a:ea typeface="Host Grotesk"/>
                <a:cs typeface="Host Grotesk"/>
                <a:sym typeface="Host Grotesk"/>
              </a:rPr>
              <a:t>The decisions CFOs make today will define tomorrow’s finance</a:t>
            </a:r>
            <a:endParaRPr b="1" sz="1525">
              <a:solidFill>
                <a:schemeClr val="lt1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  <p:pic>
        <p:nvPicPr>
          <p:cNvPr id="43" name="Google Shape;43;p6"/>
          <p:cNvPicPr preferRelativeResize="0"/>
          <p:nvPr/>
        </p:nvPicPr>
        <p:blipFill rotWithShape="1">
          <a:blip r:embed="rId5">
            <a:alphaModFix/>
          </a:blip>
          <a:srcRect b="80" l="0" r="0" t="90"/>
          <a:stretch/>
        </p:blipFill>
        <p:spPr>
          <a:xfrm>
            <a:off x="1010426" y="1851288"/>
            <a:ext cx="6604712" cy="3242604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6"/>
          <p:cNvSpPr/>
          <p:nvPr/>
        </p:nvSpPr>
        <p:spPr>
          <a:xfrm>
            <a:off x="766800" y="371800"/>
            <a:ext cx="10658400" cy="943500"/>
          </a:xfrm>
          <a:prstGeom prst="roundRect">
            <a:avLst>
              <a:gd fmla="val 17305" name="adj"/>
            </a:avLst>
          </a:prstGeom>
          <a:solidFill>
            <a:srgbClr val="FFFFFF"/>
          </a:solidFill>
          <a:ln cap="flat" cmpd="sng" w="9525">
            <a:solidFill>
              <a:srgbClr val="114D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grpSp>
        <p:nvGrpSpPr>
          <p:cNvPr id="45" name="Google Shape;45;p6"/>
          <p:cNvGrpSpPr/>
          <p:nvPr/>
        </p:nvGrpSpPr>
        <p:grpSpPr>
          <a:xfrm>
            <a:off x="1010425" y="484250"/>
            <a:ext cx="10316525" cy="703500"/>
            <a:chOff x="1010425" y="484250"/>
            <a:chExt cx="10316525" cy="703500"/>
          </a:xfrm>
        </p:grpSpPr>
        <p:pic>
          <p:nvPicPr>
            <p:cNvPr id="46" name="Google Shape;46;p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10425" y="597950"/>
              <a:ext cx="1998930" cy="43573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7" name="Google Shape;47;p6"/>
            <p:cNvCxnSpPr/>
            <p:nvPr/>
          </p:nvCxnSpPr>
          <p:spPr>
            <a:xfrm>
              <a:off x="3236338" y="539596"/>
              <a:ext cx="0" cy="592800"/>
            </a:xfrm>
            <a:prstGeom prst="straightConnector1">
              <a:avLst/>
            </a:prstGeom>
            <a:noFill/>
            <a:ln cap="flat" cmpd="sng" w="19050">
              <a:solidFill>
                <a:srgbClr val="114D9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8" name="Google Shape;48;p6"/>
            <p:cNvSpPr txBox="1"/>
            <p:nvPr/>
          </p:nvSpPr>
          <p:spPr>
            <a:xfrm>
              <a:off x="3463350" y="484250"/>
              <a:ext cx="7863600" cy="70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175" lIns="18175" spcFirstLastPara="1" rIns="18175" wrap="square" tIns="1817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63">
                  <a:solidFill>
                    <a:srgbClr val="114D9C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What the world has taught us about e-invoicing</a:t>
              </a:r>
              <a:endParaRPr b="1" sz="2763">
                <a:solidFill>
                  <a:srgbClr val="114D9C"/>
                </a:solidFill>
                <a:latin typeface="Host Grotesk"/>
                <a:ea typeface="Host Grotesk"/>
                <a:cs typeface="Host Grotesk"/>
                <a:sym typeface="Host Grotesk"/>
              </a:endParaRPr>
            </a:p>
          </p:txBody>
        </p:sp>
      </p:grpSp>
      <p:cxnSp>
        <p:nvCxnSpPr>
          <p:cNvPr id="49" name="Google Shape;49;p6"/>
          <p:cNvCxnSpPr/>
          <p:nvPr/>
        </p:nvCxnSpPr>
        <p:spPr>
          <a:xfrm flipH="1">
            <a:off x="8248110" y="4157981"/>
            <a:ext cx="2818200" cy="600"/>
          </a:xfrm>
          <a:prstGeom prst="straightConnector1">
            <a:avLst/>
          </a:prstGeom>
          <a:noFill/>
          <a:ln cap="flat" cmpd="sng" w="8425">
            <a:solidFill>
              <a:srgbClr val="114D9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0" name="Google Shape;50;p6"/>
          <p:cNvCxnSpPr/>
          <p:nvPr/>
        </p:nvCxnSpPr>
        <p:spPr>
          <a:xfrm flipH="1">
            <a:off x="8248110" y="3118756"/>
            <a:ext cx="2818200" cy="600"/>
          </a:xfrm>
          <a:prstGeom prst="straightConnector1">
            <a:avLst/>
          </a:prstGeom>
          <a:noFill/>
          <a:ln cap="flat" cmpd="sng" w="8425">
            <a:solidFill>
              <a:srgbClr val="114D9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1" name="Google Shape;51;p6"/>
          <p:cNvCxnSpPr/>
          <p:nvPr/>
        </p:nvCxnSpPr>
        <p:spPr>
          <a:xfrm flipH="1">
            <a:off x="8248110" y="5197206"/>
            <a:ext cx="2818200" cy="600"/>
          </a:xfrm>
          <a:prstGeom prst="straightConnector1">
            <a:avLst/>
          </a:prstGeom>
          <a:noFill/>
          <a:ln cap="flat" cmpd="sng" w="8425">
            <a:solidFill>
              <a:srgbClr val="114D9C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descr="assets/goldbar.png" id="52" name="Google Shape;52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0"/>
            <a:ext cx="12191693" cy="118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goldbar.png" id="58" name="Google Shape;5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1693" cy="1188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t_c10.png" id="59" name="Google Shape;5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34140" y="215900"/>
            <a:ext cx="914400" cy="92354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/>
          <p:nvPr/>
        </p:nvSpPr>
        <p:spPr>
          <a:xfrm>
            <a:off x="615450" y="1544138"/>
            <a:ext cx="10960800" cy="113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6D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  <p:grpSp>
        <p:nvGrpSpPr>
          <p:cNvPr id="61" name="Google Shape;61;p7"/>
          <p:cNvGrpSpPr/>
          <p:nvPr/>
        </p:nvGrpSpPr>
        <p:grpSpPr>
          <a:xfrm>
            <a:off x="618698" y="999013"/>
            <a:ext cx="2190600" cy="450900"/>
            <a:chOff x="609450" y="999013"/>
            <a:chExt cx="2190600" cy="450900"/>
          </a:xfrm>
        </p:grpSpPr>
        <p:sp>
          <p:nvSpPr>
            <p:cNvPr id="62" name="Google Shape;62;p7"/>
            <p:cNvSpPr/>
            <p:nvPr/>
          </p:nvSpPr>
          <p:spPr>
            <a:xfrm>
              <a:off x="609450" y="999013"/>
              <a:ext cx="2190600" cy="4509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DFECFF"/>
                </a:gs>
                <a:gs pos="100000">
                  <a:srgbClr val="DFECFF">
                    <a:alpha val="0"/>
                  </a:srgbClr>
                </a:gs>
              </a:gsLst>
              <a:lin ang="3001153" scaled="0"/>
            </a:gradFill>
            <a:ln cap="flat" cmpd="sng" w="14200">
              <a:solidFill>
                <a:srgbClr val="C6D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75" lIns="68275" spcFirstLastPara="1" rIns="68275" wrap="square" tIns="6827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700"/>
                </a:spcBef>
                <a:spcAft>
                  <a:spcPts val="70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Host Grotesk"/>
                <a:ea typeface="Host Grotesk"/>
                <a:cs typeface="Host Grotesk"/>
                <a:sym typeface="Host Grotesk"/>
              </a:endParaRPr>
            </a:p>
          </p:txBody>
        </p:sp>
        <p:sp>
          <p:nvSpPr>
            <p:cNvPr id="63" name="Google Shape;63;p7"/>
            <p:cNvSpPr/>
            <p:nvPr/>
          </p:nvSpPr>
          <p:spPr>
            <a:xfrm>
              <a:off x="750892" y="1074405"/>
              <a:ext cx="19476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A6BD0"/>
                </a:buClr>
                <a:buSzPts val="1250"/>
                <a:buFont typeface="Calibri"/>
                <a:buNone/>
              </a:pPr>
              <a:r>
                <a:rPr b="1" i="0" lang="en-US" sz="1250" u="none" cap="none" strike="noStrike">
                  <a:solidFill>
                    <a:srgbClr val="2A6BD0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THE UNIVERSAL PATTER</a:t>
              </a:r>
              <a:r>
                <a:rPr b="1" i="0" lang="en-US" sz="1250" u="none" cap="none" strike="noStrike">
                  <a:solidFill>
                    <a:srgbClr val="2A6BD0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N</a:t>
              </a:r>
              <a:endParaRPr i="0" sz="1250" u="none" cap="none" strike="noStrike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endParaRPr>
            </a:p>
          </p:txBody>
        </p:sp>
      </p:grpSp>
      <p:grpSp>
        <p:nvGrpSpPr>
          <p:cNvPr id="64" name="Google Shape;64;p7"/>
          <p:cNvGrpSpPr/>
          <p:nvPr/>
        </p:nvGrpSpPr>
        <p:grpSpPr>
          <a:xfrm>
            <a:off x="840241" y="1704026"/>
            <a:ext cx="7479603" cy="886263"/>
            <a:chOff x="750897" y="1749075"/>
            <a:chExt cx="7479603" cy="886263"/>
          </a:xfrm>
        </p:grpSpPr>
        <p:sp>
          <p:nvSpPr>
            <p:cNvPr id="65" name="Google Shape;65;p7"/>
            <p:cNvSpPr/>
            <p:nvPr/>
          </p:nvSpPr>
          <p:spPr>
            <a:xfrm>
              <a:off x="750900" y="1749075"/>
              <a:ext cx="7479600" cy="5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306E"/>
                </a:buClr>
                <a:buSzPts val="3000"/>
                <a:buFont typeface="Calibri"/>
                <a:buNone/>
              </a:pPr>
              <a:r>
                <a:rPr b="1" i="0" lang="en-US" sz="3200" u="none" cap="none" strike="noStrike">
                  <a:solidFill>
                    <a:srgbClr val="1E50A8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Every mandate follows the same arc.</a:t>
              </a:r>
              <a:endParaRPr i="0" sz="3200" u="none" cap="none" strike="noStrike">
                <a:solidFill>
                  <a:srgbClr val="1E50A8"/>
                </a:solidFill>
                <a:latin typeface="Host Grotesk"/>
                <a:ea typeface="Host Grotesk"/>
                <a:cs typeface="Host Grotesk"/>
                <a:sym typeface="Host Grotesk"/>
              </a:endParaRPr>
            </a:p>
          </p:txBody>
        </p:sp>
        <p:sp>
          <p:nvSpPr>
            <p:cNvPr id="66" name="Google Shape;66;p7"/>
            <p:cNvSpPr/>
            <p:nvPr/>
          </p:nvSpPr>
          <p:spPr>
            <a:xfrm>
              <a:off x="750897" y="2178138"/>
              <a:ext cx="6293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50A8"/>
                </a:buClr>
                <a:buSzPts val="1550"/>
                <a:buFont typeface="Calibri"/>
                <a:buNone/>
              </a:pPr>
              <a:r>
                <a:rPr i="0" lang="en-US" sz="1500" u="none" cap="none" strike="noStrike">
                  <a:solidFill>
                    <a:srgbClr val="1E50A8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The world is moving from filing tax to proving tax</a:t>
              </a:r>
              <a:r>
                <a:rPr lang="en-US" sz="1500">
                  <a:solidFill>
                    <a:srgbClr val="1E50A8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. I</a:t>
              </a:r>
              <a:r>
                <a:rPr i="0" lang="en-US" sz="1500" u="none" cap="none" strike="noStrike">
                  <a:solidFill>
                    <a:srgbClr val="1E50A8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n real time.</a:t>
              </a:r>
              <a:endParaRPr i="0" sz="1500" u="none" cap="none" strike="noStrike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endParaRPr>
            </a:p>
          </p:txBody>
        </p:sp>
      </p:grpSp>
      <p:sp>
        <p:nvSpPr>
          <p:cNvPr id="67" name="Google Shape;67;p7"/>
          <p:cNvSpPr/>
          <p:nvPr/>
        </p:nvSpPr>
        <p:spPr>
          <a:xfrm>
            <a:off x="640080" y="2772938"/>
            <a:ext cx="2606100" cy="3246000"/>
          </a:xfrm>
          <a:prstGeom prst="roundRect">
            <a:avLst>
              <a:gd fmla="val 8422" name="adj"/>
            </a:avLst>
          </a:prstGeom>
          <a:gradFill>
            <a:gsLst>
              <a:gs pos="0">
                <a:srgbClr val="DFECFF"/>
              </a:gs>
              <a:gs pos="100000">
                <a:srgbClr val="DFECFF">
                  <a:alpha val="0"/>
                </a:srgbClr>
              </a:gs>
            </a:gsLst>
            <a:lin ang="2698631" scaled="0"/>
          </a:gradFill>
          <a:ln cap="flat" cmpd="sng" w="12700">
            <a:solidFill>
              <a:srgbClr val="D2E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3435849" y="2772938"/>
            <a:ext cx="2606100" cy="3246000"/>
          </a:xfrm>
          <a:prstGeom prst="roundRect">
            <a:avLst>
              <a:gd fmla="val 8422" name="adj"/>
            </a:avLst>
          </a:prstGeom>
          <a:gradFill>
            <a:gsLst>
              <a:gs pos="0">
                <a:srgbClr val="DFECFF"/>
              </a:gs>
              <a:gs pos="100000">
                <a:srgbClr val="DFECFF">
                  <a:alpha val="0"/>
                </a:srgbClr>
              </a:gs>
            </a:gsLst>
            <a:lin ang="2698631" scaled="0"/>
          </a:gradFill>
          <a:ln cap="flat" cmpd="sng" w="12700">
            <a:solidFill>
              <a:srgbClr val="D2E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7"/>
          <p:cNvSpPr/>
          <p:nvPr/>
        </p:nvSpPr>
        <p:spPr>
          <a:xfrm>
            <a:off x="6231618" y="2772938"/>
            <a:ext cx="2606100" cy="3246000"/>
          </a:xfrm>
          <a:prstGeom prst="roundRect">
            <a:avLst>
              <a:gd fmla="val 8422" name="adj"/>
            </a:avLst>
          </a:prstGeom>
          <a:gradFill>
            <a:gsLst>
              <a:gs pos="0">
                <a:srgbClr val="DFECFF"/>
              </a:gs>
              <a:gs pos="100000">
                <a:srgbClr val="DFECFF">
                  <a:alpha val="0"/>
                </a:srgbClr>
              </a:gs>
            </a:gsLst>
            <a:lin ang="2698631" scaled="0"/>
          </a:gradFill>
          <a:ln cap="flat" cmpd="sng" w="12700">
            <a:solidFill>
              <a:srgbClr val="D2E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7"/>
          <p:cNvGrpSpPr/>
          <p:nvPr/>
        </p:nvGrpSpPr>
        <p:grpSpPr>
          <a:xfrm>
            <a:off x="960120" y="3024277"/>
            <a:ext cx="2057405" cy="2743323"/>
            <a:chOff x="960120" y="3017520"/>
            <a:chExt cx="2057405" cy="2743323"/>
          </a:xfrm>
        </p:grpSpPr>
        <p:sp>
          <p:nvSpPr>
            <p:cNvPr id="71" name="Google Shape;71;p7"/>
            <p:cNvSpPr/>
            <p:nvPr/>
          </p:nvSpPr>
          <p:spPr>
            <a:xfrm>
              <a:off x="960120" y="3017520"/>
              <a:ext cx="20574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50A8"/>
                </a:buClr>
                <a:buSzPts val="4600"/>
                <a:buFont typeface="Calibri"/>
                <a:buNone/>
              </a:pPr>
              <a:r>
                <a:rPr b="1" i="0" lang="en-US" sz="4600" u="none" cap="none" strike="noStrike">
                  <a:solidFill>
                    <a:srgbClr val="1E50A8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01</a:t>
              </a:r>
              <a:endParaRPr i="0" sz="4600" u="none" cap="none" strike="noStrike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endParaRPr>
            </a:p>
          </p:txBody>
        </p:sp>
        <p:sp>
          <p:nvSpPr>
            <p:cNvPr id="72" name="Google Shape;72;p7"/>
            <p:cNvSpPr/>
            <p:nvPr/>
          </p:nvSpPr>
          <p:spPr>
            <a:xfrm>
              <a:off x="960120" y="3977640"/>
              <a:ext cx="19659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306E"/>
                </a:buClr>
                <a:buSzPts val="165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1A1A1A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Mandate</a:t>
              </a:r>
              <a:endParaRPr i="0" sz="1600" u="none" cap="none" strike="noStrike">
                <a:solidFill>
                  <a:srgbClr val="1A1A1A"/>
                </a:solidFill>
                <a:latin typeface="Host Grotesk"/>
                <a:ea typeface="Host Grotesk"/>
                <a:cs typeface="Host Grotesk"/>
                <a:sym typeface="Host Grotesk"/>
              </a:endParaRPr>
            </a:p>
          </p:txBody>
        </p:sp>
        <p:sp>
          <p:nvSpPr>
            <p:cNvPr id="73" name="Google Shape;73;p7"/>
            <p:cNvSpPr/>
            <p:nvPr/>
          </p:nvSpPr>
          <p:spPr>
            <a:xfrm>
              <a:off x="960125" y="4663443"/>
              <a:ext cx="20574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75467"/>
                </a:buClr>
                <a:buSzPts val="1250"/>
                <a:buFont typeface="Calibri"/>
                <a:buNone/>
              </a:pPr>
              <a:r>
                <a:rPr i="0" lang="en-US" sz="1200" u="none" cap="none" strike="noStrike">
                  <a:solidFill>
                    <a:srgbClr val="475467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Capture every transaction at source. Structured format. Real-time submission.</a:t>
              </a:r>
              <a:endParaRPr i="0" sz="1200" u="none" cap="none" strike="noStrike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endParaRPr>
            </a:p>
          </p:txBody>
        </p:sp>
      </p:grpSp>
      <p:grpSp>
        <p:nvGrpSpPr>
          <p:cNvPr id="74" name="Google Shape;74;p7"/>
          <p:cNvGrpSpPr/>
          <p:nvPr/>
        </p:nvGrpSpPr>
        <p:grpSpPr>
          <a:xfrm>
            <a:off x="3710199" y="3024283"/>
            <a:ext cx="2057400" cy="2743320"/>
            <a:chOff x="3813048" y="3024283"/>
            <a:chExt cx="2057400" cy="2743320"/>
          </a:xfrm>
        </p:grpSpPr>
        <p:sp>
          <p:nvSpPr>
            <p:cNvPr id="75" name="Google Shape;75;p7"/>
            <p:cNvSpPr/>
            <p:nvPr/>
          </p:nvSpPr>
          <p:spPr>
            <a:xfrm>
              <a:off x="3813048" y="3024282"/>
              <a:ext cx="20574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50A8"/>
                </a:buClr>
                <a:buSzPts val="4600"/>
                <a:buFont typeface="Calibri"/>
                <a:buNone/>
              </a:pPr>
              <a:r>
                <a:rPr b="1" i="0" lang="en-US" sz="4600" u="none" cap="none" strike="noStrike">
                  <a:solidFill>
                    <a:srgbClr val="1E50A8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02</a:t>
              </a:r>
              <a:endParaRPr i="0" sz="4600" u="none" cap="none" strike="noStrike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endParaRPr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3813048" y="3984403"/>
              <a:ext cx="19659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306E"/>
                </a:buClr>
                <a:buSzPts val="165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1A1A1A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Cross-check</a:t>
              </a:r>
              <a:endParaRPr i="0" sz="1600" u="none" cap="none" strike="noStrike">
                <a:solidFill>
                  <a:srgbClr val="1A1A1A"/>
                </a:solidFill>
                <a:latin typeface="Host Grotesk"/>
                <a:ea typeface="Host Grotesk"/>
                <a:cs typeface="Host Grotesk"/>
                <a:sym typeface="Host Grotesk"/>
              </a:endParaRPr>
            </a:p>
          </p:txBody>
        </p:sp>
        <p:sp>
          <p:nvSpPr>
            <p:cNvPr id="77" name="Google Shape;77;p7"/>
            <p:cNvSpPr/>
            <p:nvPr/>
          </p:nvSpPr>
          <p:spPr>
            <a:xfrm>
              <a:off x="3813048" y="4670203"/>
              <a:ext cx="19476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75467"/>
                </a:buClr>
                <a:buSzPts val="1250"/>
                <a:buFont typeface="Calibri"/>
                <a:buNone/>
              </a:pPr>
              <a:r>
                <a:rPr i="0" lang="en-US" sz="1200" u="none" cap="none" strike="noStrike">
                  <a:solidFill>
                    <a:srgbClr val="475467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The authority matches your VAT returns against your e-invoice data.</a:t>
              </a:r>
              <a:endParaRPr i="0" sz="1200" u="none" cap="none" strike="noStrike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endParaRPr>
            </a:p>
          </p:txBody>
        </p:sp>
      </p:grpSp>
      <p:sp>
        <p:nvSpPr>
          <p:cNvPr id="78" name="Google Shape;78;p7"/>
          <p:cNvSpPr/>
          <p:nvPr/>
        </p:nvSpPr>
        <p:spPr>
          <a:xfrm>
            <a:off x="9027393" y="2772938"/>
            <a:ext cx="2606100" cy="3246000"/>
          </a:xfrm>
          <a:prstGeom prst="roundRect">
            <a:avLst>
              <a:gd fmla="val 8422" name="adj"/>
            </a:avLst>
          </a:prstGeom>
          <a:gradFill>
            <a:gsLst>
              <a:gs pos="0">
                <a:srgbClr val="0A6CD1"/>
              </a:gs>
              <a:gs pos="100000">
                <a:srgbClr val="5C33E6"/>
              </a:gs>
            </a:gsLst>
            <a:lin ang="3001153" scaled="0"/>
          </a:gradFill>
          <a:ln cap="flat" cmpd="sng" w="12700">
            <a:solidFill>
              <a:srgbClr val="D2E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" name="Google Shape;79;p7"/>
          <p:cNvGrpSpPr/>
          <p:nvPr/>
        </p:nvGrpSpPr>
        <p:grpSpPr>
          <a:xfrm>
            <a:off x="6505967" y="3017520"/>
            <a:ext cx="2057400" cy="2743320"/>
            <a:chOff x="6665976" y="3017520"/>
            <a:chExt cx="2057400" cy="2743320"/>
          </a:xfrm>
        </p:grpSpPr>
        <p:sp>
          <p:nvSpPr>
            <p:cNvPr id="80" name="Google Shape;80;p7"/>
            <p:cNvSpPr/>
            <p:nvPr/>
          </p:nvSpPr>
          <p:spPr>
            <a:xfrm>
              <a:off x="6665976" y="3017520"/>
              <a:ext cx="20574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50A8"/>
                </a:buClr>
                <a:buSzPts val="4600"/>
                <a:buFont typeface="Calibri"/>
                <a:buNone/>
              </a:pPr>
              <a:r>
                <a:rPr b="1" i="0" lang="en-US" sz="4600" u="none" cap="none" strike="noStrike">
                  <a:solidFill>
                    <a:srgbClr val="1E50A8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03</a:t>
              </a:r>
              <a:endParaRPr i="0" sz="4600" u="none" cap="none" strike="noStrike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endParaRPr>
            </a:p>
          </p:txBody>
        </p:sp>
        <p:sp>
          <p:nvSpPr>
            <p:cNvPr id="81" name="Google Shape;81;p7"/>
            <p:cNvSpPr/>
            <p:nvPr/>
          </p:nvSpPr>
          <p:spPr>
            <a:xfrm>
              <a:off x="6665976" y="3977640"/>
              <a:ext cx="19659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306E"/>
                </a:buClr>
                <a:buSzPts val="165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1A1A1A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Pre-fill</a:t>
              </a:r>
              <a:endParaRPr i="0" sz="1600" u="none" cap="none" strike="noStrike">
                <a:solidFill>
                  <a:srgbClr val="1A1A1A"/>
                </a:solidFill>
                <a:latin typeface="Host Grotesk"/>
                <a:ea typeface="Host Grotesk"/>
                <a:cs typeface="Host Grotesk"/>
                <a:sym typeface="Host Grotesk"/>
              </a:endParaRPr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6665976" y="4663440"/>
              <a:ext cx="19476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75467"/>
                </a:buClr>
                <a:buSzPts val="1250"/>
                <a:buFont typeface="Calibri"/>
                <a:buNone/>
              </a:pPr>
              <a:r>
                <a:rPr i="0" lang="en-US" sz="1200" u="none" cap="none" strike="noStrike">
                  <a:solidFill>
                    <a:srgbClr val="475467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Your VAT return is no longer yours to draft. The authority drafts it for you.</a:t>
              </a:r>
              <a:endParaRPr i="0" sz="1200" u="none" cap="none" strike="noStrike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endParaRPr>
            </a:p>
          </p:txBody>
        </p:sp>
      </p:grpSp>
      <p:grpSp>
        <p:nvGrpSpPr>
          <p:cNvPr id="83" name="Google Shape;83;p7"/>
          <p:cNvGrpSpPr/>
          <p:nvPr/>
        </p:nvGrpSpPr>
        <p:grpSpPr>
          <a:xfrm>
            <a:off x="9301742" y="3017520"/>
            <a:ext cx="2057400" cy="2862072"/>
            <a:chOff x="9518904" y="3017520"/>
            <a:chExt cx="2057400" cy="2862072"/>
          </a:xfrm>
        </p:grpSpPr>
        <p:sp>
          <p:nvSpPr>
            <p:cNvPr id="84" name="Google Shape;84;p7"/>
            <p:cNvSpPr/>
            <p:nvPr/>
          </p:nvSpPr>
          <p:spPr>
            <a:xfrm>
              <a:off x="9518904" y="3977640"/>
              <a:ext cx="19659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5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AI finance operations</a:t>
              </a:r>
              <a:endParaRPr i="0" sz="1600" u="none" cap="none" strike="noStrike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endParaRPr>
            </a:p>
          </p:txBody>
        </p:sp>
        <p:sp>
          <p:nvSpPr>
            <p:cNvPr id="85" name="Google Shape;85;p7"/>
            <p:cNvSpPr/>
            <p:nvPr/>
          </p:nvSpPr>
          <p:spPr>
            <a:xfrm>
              <a:off x="9518904" y="3017520"/>
              <a:ext cx="20574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600"/>
                <a:buFont typeface="Calibri"/>
                <a:buNone/>
              </a:pPr>
              <a:r>
                <a:rPr b="1" i="0" lang="en-US" sz="4600" u="none" cap="none" strike="noStrike">
                  <a:solidFill>
                    <a:srgbClr val="FFFFFF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04</a:t>
              </a:r>
              <a:endParaRPr i="0" sz="4600" u="none" cap="none" strike="noStrike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endParaRPr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9518904" y="4663440"/>
              <a:ext cx="19476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4E9FB"/>
                </a:buClr>
                <a:buSzPts val="1250"/>
                <a:buFont typeface="Calibri"/>
                <a:buNone/>
              </a:pPr>
              <a:r>
                <a:rPr i="0" lang="en-US" sz="1200" u="none" cap="none" strike="noStrike">
                  <a:solidFill>
                    <a:srgbClr val="E4E9FB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Discrepancies surface automatically</a:t>
              </a:r>
              <a:r>
                <a:rPr i="0" lang="en-US" sz="1200" u="none" cap="none" strike="noStrike">
                  <a:solidFill>
                    <a:srgbClr val="E4E9FB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. </a:t>
              </a:r>
              <a:r>
                <a:rPr i="0" lang="en-US" sz="1200" u="none" cap="none" strike="noStrike">
                  <a:solidFill>
                    <a:srgbClr val="E4E9FB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P</a:t>
              </a:r>
              <a:r>
                <a:rPr i="0" lang="en-US" sz="1200" u="none" cap="none" strike="noStrike">
                  <a:solidFill>
                    <a:srgbClr val="E4E9FB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enalties</a:t>
              </a:r>
              <a:r>
                <a:rPr i="0" lang="en-US" sz="1200" u="none" cap="none" strike="noStrike">
                  <a:solidFill>
                    <a:srgbClr val="E4E9FB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 follow. No manual review.</a:t>
              </a:r>
              <a:endParaRPr i="0" sz="1200" u="none" cap="none" strike="noStrike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endParaRPr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9518904" y="5422392"/>
              <a:ext cx="19659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D98A"/>
                </a:buClr>
                <a:buSzPts val="1150"/>
                <a:buFont typeface="Calibri"/>
                <a:buNone/>
              </a:pPr>
              <a:r>
                <a:rPr b="1" i="1" lang="en-US" sz="1100" u="none" cap="none" strike="noStrike">
                  <a:solidFill>
                    <a:srgbClr val="FFD98A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ClearTax is building for this.</a:t>
              </a:r>
              <a:endParaRPr i="0" sz="1100" u="none" cap="none" strike="noStrike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endParaRPr>
            </a:p>
          </p:txBody>
        </p:sp>
      </p:grpSp>
      <p:pic>
        <p:nvPicPr>
          <p:cNvPr id="88" name="Google Shape;88;p7" title="shutterstock_2314567365 [Converted]11111 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2699997">
            <a:off x="-341835" y="2511637"/>
            <a:ext cx="833187" cy="771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7" title="shutterstock_2314567365 [Converted]11111 11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48749" y="6417750"/>
            <a:ext cx="1377150" cy="960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7" title="Group 10000020811.png"/>
          <p:cNvPicPr preferRelativeResize="0"/>
          <p:nvPr/>
        </p:nvPicPr>
        <p:blipFill rotWithShape="1">
          <a:blip r:embed="rId8">
            <a:alphaModFix/>
          </a:blip>
          <a:srcRect b="0" l="-1215" r="0" t="0"/>
          <a:stretch/>
        </p:blipFill>
        <p:spPr>
          <a:xfrm>
            <a:off x="609450" y="438700"/>
            <a:ext cx="1072077" cy="24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/>
          <p:nvPr/>
        </p:nvSpPr>
        <p:spPr>
          <a:xfrm>
            <a:off x="7562275" y="984600"/>
            <a:ext cx="4134900" cy="1213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6D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595025" y="984600"/>
            <a:ext cx="6851700" cy="1213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6D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  <p:grpSp>
        <p:nvGrpSpPr>
          <p:cNvPr id="98" name="Google Shape;98;p8"/>
          <p:cNvGrpSpPr/>
          <p:nvPr/>
        </p:nvGrpSpPr>
        <p:grpSpPr>
          <a:xfrm>
            <a:off x="782401" y="1163513"/>
            <a:ext cx="6551700" cy="879500"/>
            <a:chOff x="782401" y="1115888"/>
            <a:chExt cx="6551700" cy="879500"/>
          </a:xfrm>
        </p:grpSpPr>
        <p:sp>
          <p:nvSpPr>
            <p:cNvPr id="99" name="Google Shape;99;p8"/>
            <p:cNvSpPr/>
            <p:nvPr/>
          </p:nvSpPr>
          <p:spPr>
            <a:xfrm>
              <a:off x="782401" y="1115888"/>
              <a:ext cx="6551700" cy="5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2388B"/>
                </a:buClr>
                <a:buSzPts val="3200"/>
                <a:buFont typeface="Calibri"/>
                <a:buNone/>
              </a:pPr>
              <a:r>
                <a:rPr b="1" i="0" lang="en-US" sz="3200" u="none" cap="none" strike="noStrike">
                  <a:solidFill>
                    <a:srgbClr val="1E50A8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Is UAE ready for the Mandate arc?</a:t>
              </a:r>
              <a:endParaRPr i="0" sz="3200" u="none" cap="none" strike="noStrike">
                <a:solidFill>
                  <a:srgbClr val="1E50A8"/>
                </a:solidFill>
                <a:latin typeface="Host Grotesk"/>
                <a:ea typeface="Host Grotesk"/>
                <a:cs typeface="Host Grotesk"/>
                <a:sym typeface="Host Grotesk"/>
              </a:endParaRPr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800699" y="1629688"/>
              <a:ext cx="32832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A6675"/>
                </a:buClr>
                <a:buSzPts val="1500"/>
                <a:buFont typeface="Calibri"/>
                <a:buNone/>
              </a:pPr>
              <a:r>
                <a:rPr i="0" lang="en-US" sz="1500" u="none" cap="none" strike="noStrike">
                  <a:solidFill>
                    <a:srgbClr val="5A6675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We asked 500+ finance leaders.</a:t>
              </a:r>
              <a:endParaRPr i="0" sz="1500" u="none" cap="none" strike="noStrike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endParaRPr>
            </a:p>
          </p:txBody>
        </p:sp>
      </p:grpSp>
      <p:sp>
        <p:nvSpPr>
          <p:cNvPr id="101" name="Google Shape;101;p8"/>
          <p:cNvSpPr/>
          <p:nvPr/>
        </p:nvSpPr>
        <p:spPr>
          <a:xfrm>
            <a:off x="7897000" y="1289550"/>
            <a:ext cx="3403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50"/>
              <a:buFont typeface="Calibri"/>
              <a:buNone/>
            </a:pPr>
            <a:r>
              <a:rPr b="1" i="0" lang="en-US" sz="1950" u="none" cap="none" strike="noStrike">
                <a:solidFill>
                  <a:srgbClr val="E8AB00"/>
                </a:solidFill>
                <a:latin typeface="Host Grotesk"/>
                <a:ea typeface="Host Grotesk"/>
                <a:cs typeface="Host Grotesk"/>
                <a:sym typeface="Host Grotesk"/>
              </a:rPr>
              <a:t>Ready for Jan 1.  </a:t>
            </a:r>
            <a:endParaRPr b="1" i="0" sz="1950" u="none" cap="none" strike="noStrike">
              <a:solidFill>
                <a:srgbClr val="E8AB00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50"/>
              <a:buFont typeface="Calibri"/>
              <a:buNone/>
            </a:pPr>
            <a:r>
              <a:rPr b="1" i="0" lang="en-US" sz="1950" u="none" cap="none" strike="noStrike">
                <a:solidFill>
                  <a:srgbClr val="C8102E"/>
                </a:solidFill>
                <a:latin typeface="Host Grotesk"/>
                <a:ea typeface="Host Grotesk"/>
                <a:cs typeface="Host Grotesk"/>
                <a:sym typeface="Host Grotesk"/>
              </a:rPr>
              <a:t>Not ready for what follows.</a:t>
            </a:r>
            <a:endParaRPr i="0" sz="1950" u="none" cap="none" strike="noStrike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595013" y="2319676"/>
            <a:ext cx="2581500" cy="4014600"/>
          </a:xfrm>
          <a:prstGeom prst="roundRect">
            <a:avLst>
              <a:gd fmla="val 5667" name="adj"/>
            </a:avLst>
          </a:prstGeom>
          <a:gradFill>
            <a:gsLst>
              <a:gs pos="0">
                <a:srgbClr val="FFF2CC"/>
              </a:gs>
              <a:gs pos="100000">
                <a:srgbClr val="DFECFF">
                  <a:alpha val="0"/>
                </a:srgbClr>
              </a:gs>
            </a:gsLst>
            <a:lin ang="2698631" scaled="0"/>
          </a:gradFill>
          <a:ln cap="flat" cmpd="sng" w="12700">
            <a:solidFill>
              <a:srgbClr val="FFE5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832747" y="2449409"/>
            <a:ext cx="1557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E8AB00"/>
                </a:solidFill>
                <a:latin typeface="Host Grotesk"/>
                <a:ea typeface="Host Grotesk"/>
                <a:cs typeface="Host Grotesk"/>
                <a:sym typeface="Host Grotesk"/>
              </a:rPr>
              <a:t>01</a:t>
            </a:r>
            <a:endParaRPr i="0" sz="4000" u="none" cap="none" strike="noStrike">
              <a:solidFill>
                <a:srgbClr val="E8AB00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2916287" y="2266519"/>
            <a:ext cx="384000" cy="384000"/>
          </a:xfrm>
          <a:prstGeom prst="ellipse">
            <a:avLst/>
          </a:prstGeom>
          <a:solidFill>
            <a:srgbClr val="FCC5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8AB00"/>
              </a:solidFill>
            </a:endParaRPr>
          </a:p>
        </p:txBody>
      </p:sp>
      <p:pic>
        <p:nvPicPr>
          <p:cNvPr descr="ic_check.png" id="105" name="Google Shape;10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21443" y="2371675"/>
            <a:ext cx="173736" cy="17373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8"/>
          <p:cNvSpPr/>
          <p:nvPr/>
        </p:nvSpPr>
        <p:spPr>
          <a:xfrm>
            <a:off x="832747" y="3217505"/>
            <a:ext cx="2106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733"/>
                </a:solidFill>
                <a:latin typeface="Host Grotesk"/>
                <a:ea typeface="Host Grotesk"/>
                <a:cs typeface="Host Grotesk"/>
                <a:sym typeface="Host Grotesk"/>
              </a:rPr>
              <a:t>Mandate</a:t>
            </a:r>
            <a:endParaRPr i="0" sz="1600" u="none" cap="none" strike="noStrike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  <p:cxnSp>
        <p:nvCxnSpPr>
          <p:cNvPr id="107" name="Google Shape;107;p8"/>
          <p:cNvCxnSpPr/>
          <p:nvPr/>
        </p:nvCxnSpPr>
        <p:spPr>
          <a:xfrm>
            <a:off x="832747" y="3815484"/>
            <a:ext cx="2106000" cy="0"/>
          </a:xfrm>
          <a:prstGeom prst="straightConnector1">
            <a:avLst/>
          </a:prstGeom>
          <a:noFill/>
          <a:ln cap="flat" cmpd="sng" w="12700">
            <a:solidFill>
              <a:srgbClr val="E8AB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8"/>
          <p:cNvSpPr/>
          <p:nvPr/>
        </p:nvSpPr>
        <p:spPr>
          <a:xfrm>
            <a:off x="832747" y="3980076"/>
            <a:ext cx="21060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E8AB00"/>
                </a:solidFill>
                <a:latin typeface="Host Grotesk"/>
                <a:ea typeface="Host Grotesk"/>
                <a:cs typeface="Host Grotesk"/>
                <a:sym typeface="Host Grotesk"/>
              </a:rPr>
              <a:t>73.3%</a:t>
            </a:r>
            <a:endParaRPr i="0" sz="4200" u="none" cap="none" strike="noStrike">
              <a:solidFill>
                <a:srgbClr val="E8AB00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832738" y="4731591"/>
            <a:ext cx="2106000" cy="14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733"/>
                </a:solidFill>
                <a:latin typeface="Host Grotesk"/>
                <a:ea typeface="Host Grotesk"/>
                <a:cs typeface="Host Grotesk"/>
                <a:sym typeface="Host Grotesk"/>
              </a:rPr>
              <a:t>Most are r</a:t>
            </a:r>
            <a:r>
              <a:rPr b="1" i="0" lang="en-US" sz="1300" u="none" cap="none" strike="noStrike">
                <a:solidFill>
                  <a:srgbClr val="1B2733"/>
                </a:solidFill>
                <a:latin typeface="Host Grotesk"/>
                <a:ea typeface="Host Grotesk"/>
                <a:cs typeface="Host Grotesk"/>
                <a:sym typeface="Host Grotesk"/>
              </a:rPr>
              <a:t>eady for </a:t>
            </a:r>
            <a:br>
              <a:rPr b="1" i="0" lang="en-US" sz="1300" u="none" cap="none" strike="noStrike">
                <a:solidFill>
                  <a:srgbClr val="1B2733"/>
                </a:solidFill>
                <a:latin typeface="Host Grotesk"/>
                <a:ea typeface="Host Grotesk"/>
                <a:cs typeface="Host Grotesk"/>
                <a:sym typeface="Host Grotesk"/>
              </a:rPr>
            </a:br>
            <a:r>
              <a:rPr b="1" i="0" lang="en-US" sz="1300" u="none" cap="none" strike="noStrike">
                <a:solidFill>
                  <a:srgbClr val="1B2733"/>
                </a:solidFill>
                <a:latin typeface="Host Grotesk"/>
                <a:ea typeface="Host Grotesk"/>
                <a:cs typeface="Host Grotesk"/>
                <a:sym typeface="Host Grotesk"/>
              </a:rPr>
              <a:t>the 1st Jan deadline</a:t>
            </a:r>
            <a:endParaRPr i="0" sz="1300" u="none" cap="none" strike="noStrike">
              <a:solidFill>
                <a:srgbClr val="5A6675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3432613" y="2319676"/>
            <a:ext cx="2581500" cy="4014600"/>
          </a:xfrm>
          <a:prstGeom prst="roundRect">
            <a:avLst>
              <a:gd fmla="val 5667" name="adj"/>
            </a:avLst>
          </a:prstGeom>
          <a:gradFill>
            <a:gsLst>
              <a:gs pos="0">
                <a:srgbClr val="FCECEE"/>
              </a:gs>
              <a:gs pos="50000">
                <a:srgbClr val="FCECEE"/>
              </a:gs>
              <a:gs pos="100000">
                <a:srgbClr val="DFECFF">
                  <a:alpha val="0"/>
                </a:srgbClr>
              </a:gs>
            </a:gsLst>
            <a:lin ang="2698631" scaled="0"/>
          </a:gradFill>
          <a:ln cap="flat" cmpd="sng" w="12700">
            <a:solidFill>
              <a:srgbClr val="F3C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3670359" y="2449409"/>
            <a:ext cx="1557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C8102E"/>
                </a:solidFill>
                <a:latin typeface="Host Grotesk"/>
                <a:ea typeface="Host Grotesk"/>
                <a:cs typeface="Host Grotesk"/>
                <a:sym typeface="Host Grotesk"/>
              </a:rPr>
              <a:t>02</a:t>
            </a:r>
            <a:endParaRPr i="0" sz="4000" u="none" cap="none" strike="noStrike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5753899" y="2266519"/>
            <a:ext cx="384000" cy="3840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_alert.png" id="113" name="Google Shape;11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9055" y="2371675"/>
            <a:ext cx="173736" cy="17373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8"/>
          <p:cNvSpPr/>
          <p:nvPr/>
        </p:nvSpPr>
        <p:spPr>
          <a:xfrm>
            <a:off x="3670359" y="3217505"/>
            <a:ext cx="2106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733"/>
                </a:solidFill>
                <a:latin typeface="Host Grotesk"/>
                <a:ea typeface="Host Grotesk"/>
                <a:cs typeface="Host Grotesk"/>
                <a:sym typeface="Host Grotesk"/>
              </a:rPr>
              <a:t>Cross-check</a:t>
            </a:r>
            <a:endParaRPr i="0" sz="1600" u="none" cap="none" strike="noStrike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  <p:cxnSp>
        <p:nvCxnSpPr>
          <p:cNvPr id="115" name="Google Shape;115;p8"/>
          <p:cNvCxnSpPr/>
          <p:nvPr/>
        </p:nvCxnSpPr>
        <p:spPr>
          <a:xfrm>
            <a:off x="3670359" y="3815484"/>
            <a:ext cx="2106000" cy="0"/>
          </a:xfrm>
          <a:prstGeom prst="straightConnector1">
            <a:avLst/>
          </a:prstGeom>
          <a:noFill/>
          <a:ln cap="flat" cmpd="sng" w="12700">
            <a:solidFill>
              <a:srgbClr val="F3CD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8"/>
          <p:cNvSpPr/>
          <p:nvPr/>
        </p:nvSpPr>
        <p:spPr>
          <a:xfrm>
            <a:off x="3670359" y="3980076"/>
            <a:ext cx="21060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C8102E"/>
                </a:solidFill>
                <a:latin typeface="Host Grotesk"/>
                <a:ea typeface="Host Grotesk"/>
                <a:cs typeface="Host Grotesk"/>
                <a:sym typeface="Host Grotesk"/>
              </a:rPr>
              <a:t>69%</a:t>
            </a:r>
            <a:endParaRPr i="0" sz="4200" u="none" cap="none" strike="noStrike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3670363" y="4731591"/>
            <a:ext cx="2106000" cy="14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733"/>
                </a:solidFill>
                <a:latin typeface="Host Grotesk"/>
                <a:ea typeface="Host Grotesk"/>
                <a:cs typeface="Host Grotesk"/>
                <a:sym typeface="Host Grotesk"/>
              </a:rPr>
              <a:t>Not audit-ready for real-time exposure</a:t>
            </a:r>
            <a:endParaRPr i="0" sz="1300" u="none" cap="none" strike="noStrike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5A6675"/>
              </a:buClr>
              <a:buSzPts val="1150"/>
              <a:buFont typeface="Calibri"/>
              <a:buNone/>
            </a:pPr>
            <a:r>
              <a:rPr i="0" lang="en-US" sz="1150" u="none" cap="none" strike="noStrike">
                <a:solidFill>
                  <a:srgbClr val="5A6675"/>
                </a:solidFill>
                <a:latin typeface="Host Grotesk"/>
                <a:ea typeface="Host Grotesk"/>
                <a:cs typeface="Host Grotesk"/>
                <a:sym typeface="Host Grotesk"/>
              </a:rPr>
              <a:t>As the authority cross-checks continuously, gaps become penalties before you can fix them.</a:t>
            </a:r>
            <a:endParaRPr i="0" sz="1300" u="none" cap="none" strike="noStrike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6270238" y="2319676"/>
            <a:ext cx="2581500" cy="4014600"/>
          </a:xfrm>
          <a:prstGeom prst="roundRect">
            <a:avLst>
              <a:gd fmla="val 5667" name="adj"/>
            </a:avLst>
          </a:prstGeom>
          <a:gradFill>
            <a:gsLst>
              <a:gs pos="0">
                <a:srgbClr val="FCECEE"/>
              </a:gs>
              <a:gs pos="50000">
                <a:srgbClr val="FCECEE"/>
              </a:gs>
              <a:gs pos="100000">
                <a:srgbClr val="DFECFF">
                  <a:alpha val="0"/>
                </a:srgbClr>
              </a:gs>
            </a:gsLst>
            <a:lin ang="2698631" scaled="0"/>
          </a:gradFill>
          <a:ln cap="flat" cmpd="sng" w="12700">
            <a:solidFill>
              <a:srgbClr val="F3C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6507971" y="2449409"/>
            <a:ext cx="1557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C8102E"/>
                </a:solidFill>
                <a:latin typeface="Host Grotesk"/>
                <a:ea typeface="Host Grotesk"/>
                <a:cs typeface="Host Grotesk"/>
                <a:sym typeface="Host Grotesk"/>
              </a:rPr>
              <a:t>03</a:t>
            </a:r>
            <a:endParaRPr i="0" sz="4000" u="none" cap="none" strike="noStrike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8591510" y="2266519"/>
            <a:ext cx="384000" cy="3840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_alert.png" id="121" name="Google Shape;12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96666" y="2371675"/>
            <a:ext cx="173736" cy="17373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8"/>
          <p:cNvSpPr/>
          <p:nvPr/>
        </p:nvSpPr>
        <p:spPr>
          <a:xfrm>
            <a:off x="6507971" y="3217505"/>
            <a:ext cx="2106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733"/>
                </a:solidFill>
                <a:latin typeface="Host Grotesk"/>
                <a:ea typeface="Host Grotesk"/>
                <a:cs typeface="Host Grotesk"/>
                <a:sym typeface="Host Grotesk"/>
              </a:rPr>
              <a:t>Pre-fill</a:t>
            </a:r>
            <a:endParaRPr i="0" sz="1600" u="none" cap="none" strike="noStrike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  <p:cxnSp>
        <p:nvCxnSpPr>
          <p:cNvPr id="123" name="Google Shape;123;p8"/>
          <p:cNvCxnSpPr/>
          <p:nvPr/>
        </p:nvCxnSpPr>
        <p:spPr>
          <a:xfrm>
            <a:off x="6507971" y="3815484"/>
            <a:ext cx="2106000" cy="0"/>
          </a:xfrm>
          <a:prstGeom prst="straightConnector1">
            <a:avLst/>
          </a:prstGeom>
          <a:noFill/>
          <a:ln cap="flat" cmpd="sng" w="12700">
            <a:solidFill>
              <a:srgbClr val="F3CD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8"/>
          <p:cNvSpPr/>
          <p:nvPr/>
        </p:nvSpPr>
        <p:spPr>
          <a:xfrm>
            <a:off x="6507971" y="3980076"/>
            <a:ext cx="21060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C8102E"/>
                </a:solidFill>
                <a:latin typeface="Host Grotesk"/>
                <a:ea typeface="Host Grotesk"/>
                <a:cs typeface="Host Grotesk"/>
                <a:sym typeface="Host Grotesk"/>
              </a:rPr>
              <a:t>64.8%</a:t>
            </a:r>
            <a:endParaRPr i="0" sz="4200" u="none" cap="none" strike="noStrike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6507963" y="4731591"/>
            <a:ext cx="2106000" cy="14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733"/>
                </a:solidFill>
                <a:latin typeface="Host Grotesk"/>
                <a:ea typeface="Host Grotesk"/>
                <a:cs typeface="Host Grotesk"/>
                <a:sym typeface="Host Grotesk"/>
              </a:rPr>
              <a:t>Lack pre-submission validation</a:t>
            </a:r>
            <a:endParaRPr i="0" sz="1300" u="none" cap="none" strike="noStrike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5A6675"/>
              </a:buClr>
              <a:buSzPts val="1150"/>
              <a:buFont typeface="Calibri"/>
              <a:buNone/>
            </a:pPr>
            <a:r>
              <a:rPr i="0" lang="en-US" sz="1150" u="none" cap="none" strike="noStrike">
                <a:solidFill>
                  <a:srgbClr val="5A6675"/>
                </a:solidFill>
                <a:latin typeface="Host Grotesk"/>
                <a:ea typeface="Host Grotesk"/>
                <a:cs typeface="Host Grotesk"/>
                <a:sym typeface="Host Grotesk"/>
              </a:rPr>
              <a:t>Errors aren't caught before submission, and it scales with volume. Wrong data in → wrong reporting out.</a:t>
            </a:r>
            <a:endParaRPr i="0" sz="1300" u="none" cap="none" strike="noStrike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9107838" y="2319676"/>
            <a:ext cx="2581500" cy="4014600"/>
          </a:xfrm>
          <a:prstGeom prst="roundRect">
            <a:avLst>
              <a:gd fmla="val 5667" name="adj"/>
            </a:avLst>
          </a:prstGeom>
          <a:gradFill>
            <a:gsLst>
              <a:gs pos="0">
                <a:srgbClr val="FCECEE"/>
              </a:gs>
              <a:gs pos="50000">
                <a:srgbClr val="FCECEE"/>
              </a:gs>
              <a:gs pos="100000">
                <a:srgbClr val="DFECFF">
                  <a:alpha val="0"/>
                </a:srgbClr>
              </a:gs>
            </a:gsLst>
            <a:lin ang="2698631" scaled="0"/>
          </a:gradFill>
          <a:ln cap="flat" cmpd="sng" w="12700">
            <a:solidFill>
              <a:srgbClr val="F3C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9345582" y="2449409"/>
            <a:ext cx="1557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C8102E"/>
                </a:solidFill>
                <a:latin typeface="Host Grotesk"/>
                <a:ea typeface="Host Grotesk"/>
                <a:cs typeface="Host Grotesk"/>
                <a:sym typeface="Host Grotesk"/>
              </a:rPr>
              <a:t>04</a:t>
            </a:r>
            <a:endParaRPr i="0" sz="4000" u="none" cap="none" strike="noStrike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  <p:grpSp>
        <p:nvGrpSpPr>
          <p:cNvPr id="128" name="Google Shape;128;p8"/>
          <p:cNvGrpSpPr/>
          <p:nvPr/>
        </p:nvGrpSpPr>
        <p:grpSpPr>
          <a:xfrm>
            <a:off x="11382947" y="2266544"/>
            <a:ext cx="384000" cy="384000"/>
            <a:chOff x="11021451" y="2432348"/>
            <a:chExt cx="384000" cy="384000"/>
          </a:xfrm>
        </p:grpSpPr>
        <p:sp>
          <p:nvSpPr>
            <p:cNvPr id="129" name="Google Shape;129;p8"/>
            <p:cNvSpPr/>
            <p:nvPr/>
          </p:nvSpPr>
          <p:spPr>
            <a:xfrm>
              <a:off x="11021451" y="2432348"/>
              <a:ext cx="384000" cy="384000"/>
            </a:xfrm>
            <a:prstGeom prst="ellipse">
              <a:avLst/>
            </a:prstGeom>
            <a:solidFill>
              <a:srgbClr val="C810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ic_alert.png" id="130" name="Google Shape;130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126607" y="2537504"/>
              <a:ext cx="173736" cy="17373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" name="Google Shape;131;p8"/>
          <p:cNvSpPr/>
          <p:nvPr/>
        </p:nvSpPr>
        <p:spPr>
          <a:xfrm>
            <a:off x="9345582" y="3217505"/>
            <a:ext cx="2106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733"/>
                </a:solidFill>
                <a:latin typeface="Host Grotesk"/>
                <a:ea typeface="Host Grotesk"/>
                <a:cs typeface="Host Grotesk"/>
                <a:sym typeface="Host Grotesk"/>
              </a:rPr>
              <a:t>AI finance operations</a:t>
            </a:r>
            <a:endParaRPr i="0" sz="1600" u="none" cap="none" strike="noStrike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  <p:cxnSp>
        <p:nvCxnSpPr>
          <p:cNvPr id="132" name="Google Shape;132;p8"/>
          <p:cNvCxnSpPr/>
          <p:nvPr/>
        </p:nvCxnSpPr>
        <p:spPr>
          <a:xfrm>
            <a:off x="9345582" y="3815484"/>
            <a:ext cx="2106000" cy="0"/>
          </a:xfrm>
          <a:prstGeom prst="straightConnector1">
            <a:avLst/>
          </a:prstGeom>
          <a:noFill/>
          <a:ln cap="flat" cmpd="sng" w="12700">
            <a:solidFill>
              <a:srgbClr val="F3CD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8"/>
          <p:cNvSpPr/>
          <p:nvPr/>
        </p:nvSpPr>
        <p:spPr>
          <a:xfrm>
            <a:off x="9345582" y="3980076"/>
            <a:ext cx="21060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C8102E"/>
                </a:solidFill>
                <a:latin typeface="Host Grotesk"/>
                <a:ea typeface="Host Grotesk"/>
                <a:cs typeface="Host Grotesk"/>
                <a:sym typeface="Host Grotesk"/>
              </a:rPr>
              <a:t>66.2%</a:t>
            </a:r>
            <a:endParaRPr i="0" sz="4200" u="none" cap="none" strike="noStrike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9345600" y="4731588"/>
            <a:ext cx="2179500" cy="14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733"/>
                </a:solidFill>
                <a:latin typeface="Host Grotesk"/>
                <a:ea typeface="Host Grotesk"/>
                <a:cs typeface="Host Grotesk"/>
                <a:sym typeface="Host Grotesk"/>
              </a:rPr>
              <a:t>Cannot deliver</a:t>
            </a:r>
            <a:r>
              <a:rPr b="1" lang="en-US" sz="1300">
                <a:solidFill>
                  <a:srgbClr val="1B2733"/>
                </a:solidFill>
                <a:latin typeface="Host Grotesk"/>
                <a:ea typeface="Host Grotesk"/>
                <a:cs typeface="Host Grotesk"/>
                <a:sym typeface="Host Grotesk"/>
              </a:rPr>
              <a:t> </a:t>
            </a:r>
            <a:r>
              <a:rPr b="1" i="0" lang="en-US" sz="1300" u="none" cap="none" strike="noStrike">
                <a:solidFill>
                  <a:srgbClr val="1B2733"/>
                </a:solidFill>
                <a:latin typeface="Host Grotesk"/>
                <a:ea typeface="Host Grotesk"/>
                <a:cs typeface="Host Grotesk"/>
                <a:sym typeface="Host Grotesk"/>
              </a:rPr>
              <a:t>machine-ready records </a:t>
            </a:r>
            <a:br>
              <a:rPr b="1" i="0" lang="en-US" sz="1300" u="none" cap="none" strike="noStrike">
                <a:solidFill>
                  <a:srgbClr val="1B2733"/>
                </a:solidFill>
                <a:latin typeface="Host Grotesk"/>
                <a:ea typeface="Host Grotesk"/>
                <a:cs typeface="Host Grotesk"/>
                <a:sym typeface="Host Grotesk"/>
              </a:rPr>
            </a:br>
            <a:r>
              <a:rPr b="1" i="0" lang="en-US" sz="1300" u="none" cap="none" strike="noStrike">
                <a:solidFill>
                  <a:srgbClr val="1B2733"/>
                </a:solidFill>
                <a:latin typeface="Host Grotesk"/>
                <a:ea typeface="Host Grotesk"/>
                <a:cs typeface="Host Grotesk"/>
                <a:sym typeface="Host Grotesk"/>
              </a:rPr>
              <a:t>in 48 hours</a:t>
            </a:r>
            <a:endParaRPr i="0" sz="1300" u="none" cap="none" strike="noStrike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5A6675"/>
              </a:buClr>
              <a:buSzPts val="1150"/>
              <a:buFont typeface="Calibri"/>
              <a:buNone/>
            </a:pPr>
            <a:r>
              <a:rPr i="0" lang="en-US" sz="1150" u="none" cap="none" strike="noStrike">
                <a:solidFill>
                  <a:srgbClr val="5A6675"/>
                </a:solidFill>
                <a:latin typeface="Host Grotesk"/>
                <a:ea typeface="Host Grotesk"/>
                <a:cs typeface="Host Grotesk"/>
                <a:sym typeface="Host Grotesk"/>
              </a:rPr>
              <a:t>You are exposed to compliance risk today — before any new mandate takes effect.</a:t>
            </a:r>
            <a:endParaRPr i="0" sz="1300" u="none" cap="none" strike="noStrike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  <p:pic>
        <p:nvPicPr>
          <p:cNvPr id="135" name="Google Shape;135;p8" title="Group 10000020811.png"/>
          <p:cNvPicPr preferRelativeResize="0"/>
          <p:nvPr/>
        </p:nvPicPr>
        <p:blipFill rotWithShape="1">
          <a:blip r:embed="rId6">
            <a:alphaModFix/>
          </a:blip>
          <a:srcRect b="0" l="-1215" r="0" t="0"/>
          <a:stretch/>
        </p:blipFill>
        <p:spPr>
          <a:xfrm>
            <a:off x="609450" y="438700"/>
            <a:ext cx="1072077" cy="24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>
            <a:off x="609450" y="1468981"/>
            <a:ext cx="10960800" cy="1245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6D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  <p:grpSp>
        <p:nvGrpSpPr>
          <p:cNvPr id="142" name="Google Shape;142;p9"/>
          <p:cNvGrpSpPr/>
          <p:nvPr/>
        </p:nvGrpSpPr>
        <p:grpSpPr>
          <a:xfrm>
            <a:off x="609450" y="910496"/>
            <a:ext cx="1254900" cy="450900"/>
            <a:chOff x="609450" y="844350"/>
            <a:chExt cx="1254900" cy="450900"/>
          </a:xfrm>
        </p:grpSpPr>
        <p:sp>
          <p:nvSpPr>
            <p:cNvPr id="143" name="Google Shape;143;p9"/>
            <p:cNvSpPr/>
            <p:nvPr/>
          </p:nvSpPr>
          <p:spPr>
            <a:xfrm>
              <a:off x="609450" y="844350"/>
              <a:ext cx="1254900" cy="4509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DFECFF"/>
                </a:gs>
                <a:gs pos="100000">
                  <a:srgbClr val="DFECFF">
                    <a:alpha val="0"/>
                  </a:srgbClr>
                </a:gs>
              </a:gsLst>
              <a:lin ang="3001153" scaled="0"/>
            </a:gradFill>
            <a:ln cap="flat" cmpd="sng" w="14200">
              <a:solidFill>
                <a:srgbClr val="C6D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75" lIns="68275" spcFirstLastPara="1" rIns="68275" wrap="square" tIns="6827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700"/>
                </a:spcBef>
                <a:spcAft>
                  <a:spcPts val="70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Host Grotesk"/>
                <a:ea typeface="Host Grotesk"/>
                <a:cs typeface="Host Grotesk"/>
                <a:sym typeface="Host Grotesk"/>
              </a:endParaRPr>
            </a:p>
          </p:txBody>
        </p:sp>
        <p:sp>
          <p:nvSpPr>
            <p:cNvPr id="144" name="Google Shape;144;p9"/>
            <p:cNvSpPr/>
            <p:nvPr/>
          </p:nvSpPr>
          <p:spPr>
            <a:xfrm>
              <a:off x="798275" y="932700"/>
              <a:ext cx="8901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A6BD0"/>
                </a:buClr>
                <a:buSzPts val="1250"/>
                <a:buFont typeface="Calibri"/>
                <a:buNone/>
              </a:pPr>
              <a:r>
                <a:rPr b="1" lang="en-US" sz="1200">
                  <a:solidFill>
                    <a:srgbClr val="2A6BD0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THE FUTURE</a:t>
              </a:r>
              <a:endParaRPr b="1" sz="1200">
                <a:solidFill>
                  <a:srgbClr val="2A6BD0"/>
                </a:solidFill>
                <a:latin typeface="Host Grotesk"/>
                <a:ea typeface="Host Grotesk"/>
                <a:cs typeface="Host Grotesk"/>
                <a:sym typeface="Host Grotesk"/>
              </a:endParaRPr>
            </a:p>
          </p:txBody>
        </p:sp>
      </p:grpSp>
      <p:grpSp>
        <p:nvGrpSpPr>
          <p:cNvPr id="145" name="Google Shape;145;p9"/>
          <p:cNvGrpSpPr/>
          <p:nvPr/>
        </p:nvGrpSpPr>
        <p:grpSpPr>
          <a:xfrm>
            <a:off x="609450" y="2836881"/>
            <a:ext cx="10960907" cy="3277300"/>
            <a:chOff x="609450" y="3177400"/>
            <a:chExt cx="10960907" cy="3277300"/>
          </a:xfrm>
        </p:grpSpPr>
        <p:sp>
          <p:nvSpPr>
            <p:cNvPr id="146" name="Google Shape;146;p9"/>
            <p:cNvSpPr/>
            <p:nvPr/>
          </p:nvSpPr>
          <p:spPr>
            <a:xfrm>
              <a:off x="609450" y="3177400"/>
              <a:ext cx="3573300" cy="3275400"/>
            </a:xfrm>
            <a:prstGeom prst="roundRect">
              <a:avLst>
                <a:gd fmla="val 9004" name="adj"/>
              </a:avLst>
            </a:prstGeom>
            <a:gradFill>
              <a:gsLst>
                <a:gs pos="0">
                  <a:srgbClr val="DFECFF"/>
                </a:gs>
                <a:gs pos="100000">
                  <a:srgbClr val="DFECFF">
                    <a:alpha val="0"/>
                  </a:srgbClr>
                </a:gs>
              </a:gsLst>
              <a:lin ang="3001153" scaled="0"/>
            </a:gradFill>
            <a:ln cap="flat" cmpd="sng" w="9525">
              <a:solidFill>
                <a:srgbClr val="C6D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t/>
              </a:r>
              <a:endParaRPr sz="1200">
                <a:latin typeface="Host Grotesk"/>
                <a:ea typeface="Host Grotesk"/>
                <a:cs typeface="Host Grotesk"/>
                <a:sym typeface="Host Grotesk"/>
              </a:endParaRPr>
            </a:p>
          </p:txBody>
        </p:sp>
        <p:sp>
          <p:nvSpPr>
            <p:cNvPr id="147" name="Google Shape;147;p9"/>
            <p:cNvSpPr/>
            <p:nvPr/>
          </p:nvSpPr>
          <p:spPr>
            <a:xfrm>
              <a:off x="4303247" y="3179300"/>
              <a:ext cx="3573300" cy="3275400"/>
            </a:xfrm>
            <a:prstGeom prst="roundRect">
              <a:avLst>
                <a:gd fmla="val 9004" name="adj"/>
              </a:avLst>
            </a:prstGeom>
            <a:gradFill>
              <a:gsLst>
                <a:gs pos="0">
                  <a:srgbClr val="DFECFF"/>
                </a:gs>
                <a:gs pos="100000">
                  <a:srgbClr val="DFECFF">
                    <a:alpha val="0"/>
                  </a:srgbClr>
                </a:gs>
              </a:gsLst>
              <a:lin ang="3001153" scaled="0"/>
            </a:gradFill>
            <a:ln cap="flat" cmpd="sng" w="9525">
              <a:solidFill>
                <a:srgbClr val="C6D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t/>
              </a:r>
              <a:endParaRPr sz="1200">
                <a:latin typeface="Host Grotesk"/>
                <a:ea typeface="Host Grotesk"/>
                <a:cs typeface="Host Grotesk"/>
                <a:sym typeface="Host Grotesk"/>
              </a:endParaRPr>
            </a:p>
          </p:txBody>
        </p:sp>
        <p:grpSp>
          <p:nvGrpSpPr>
            <p:cNvPr id="148" name="Google Shape;148;p9"/>
            <p:cNvGrpSpPr/>
            <p:nvPr/>
          </p:nvGrpSpPr>
          <p:grpSpPr>
            <a:xfrm>
              <a:off x="924300" y="3469395"/>
              <a:ext cx="2943600" cy="2750656"/>
              <a:chOff x="924300" y="3469395"/>
              <a:chExt cx="2943600" cy="2750656"/>
            </a:xfrm>
          </p:grpSpPr>
          <p:sp>
            <p:nvSpPr>
              <p:cNvPr id="149" name="Google Shape;149;p9"/>
              <p:cNvSpPr/>
              <p:nvPr/>
            </p:nvSpPr>
            <p:spPr>
              <a:xfrm>
                <a:off x="924300" y="3469395"/>
                <a:ext cx="1975200" cy="9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50A8"/>
                  </a:buClr>
                  <a:buSzPts val="4800"/>
                  <a:buFont typeface="Calibri"/>
                  <a:buNone/>
                </a:pPr>
                <a:r>
                  <a:rPr b="1" i="0" lang="en-US" sz="4800" u="none" cap="none" strike="noStrike">
                    <a:solidFill>
                      <a:srgbClr val="1E50A8"/>
                    </a:solidFill>
                    <a:latin typeface="Host Grotesk"/>
                    <a:ea typeface="Host Grotesk"/>
                    <a:cs typeface="Host Grotesk"/>
                    <a:sym typeface="Host Grotesk"/>
                  </a:rPr>
                  <a:t>01</a:t>
                </a:r>
                <a:endParaRPr i="0" sz="4800" u="none" cap="none" strike="noStrike">
                  <a:solidFill>
                    <a:schemeClr val="dk1"/>
                  </a:solidFill>
                  <a:latin typeface="Host Grotesk"/>
                  <a:ea typeface="Host Grotesk"/>
                  <a:cs typeface="Host Grotesk"/>
                  <a:sym typeface="Host Grotesk"/>
                </a:endParaRPr>
              </a:p>
            </p:txBody>
          </p:sp>
          <p:sp>
            <p:nvSpPr>
              <p:cNvPr id="150" name="Google Shape;150;p9"/>
              <p:cNvSpPr/>
              <p:nvPr/>
            </p:nvSpPr>
            <p:spPr>
              <a:xfrm>
                <a:off x="924300" y="4388553"/>
                <a:ext cx="2943600" cy="82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4306E"/>
                  </a:buClr>
                  <a:buSzPts val="1750"/>
                  <a:buFont typeface="Calibri"/>
                  <a:buNone/>
                </a:pPr>
                <a:r>
                  <a:rPr b="1" i="0" lang="en-US" sz="1750" u="none" cap="none" strike="noStrike">
                    <a:solidFill>
                      <a:srgbClr val="1C1C1C"/>
                    </a:solidFill>
                    <a:latin typeface="Host Grotesk"/>
                    <a:ea typeface="Host Grotesk"/>
                    <a:cs typeface="Host Grotesk"/>
                    <a:sym typeface="Host Grotesk"/>
                  </a:rPr>
                  <a:t>Treat</a:t>
                </a:r>
                <a:r>
                  <a:rPr b="1" lang="en-US" sz="1750">
                    <a:solidFill>
                      <a:srgbClr val="1C1C1C"/>
                    </a:solidFill>
                    <a:latin typeface="Host Grotesk"/>
                    <a:ea typeface="Host Grotesk"/>
                    <a:cs typeface="Host Grotesk"/>
                    <a:sym typeface="Host Grotesk"/>
                  </a:rPr>
                  <a:t> </a:t>
                </a:r>
                <a:r>
                  <a:rPr b="1" i="0" lang="en-US" sz="1750" u="none" cap="none" strike="noStrike">
                    <a:solidFill>
                      <a:srgbClr val="1C1C1C"/>
                    </a:solidFill>
                    <a:latin typeface="Host Grotesk"/>
                    <a:ea typeface="Host Grotesk"/>
                    <a:cs typeface="Host Grotesk"/>
                    <a:sym typeface="Host Grotesk"/>
                  </a:rPr>
                  <a:t>e-invoicing </a:t>
                </a:r>
                <a:br>
                  <a:rPr b="1" i="0" lang="en-US" sz="1750" u="none" cap="none" strike="noStrike">
                    <a:solidFill>
                      <a:srgbClr val="1C1C1C"/>
                    </a:solidFill>
                    <a:latin typeface="Host Grotesk"/>
                    <a:ea typeface="Host Grotesk"/>
                    <a:cs typeface="Host Grotesk"/>
                    <a:sym typeface="Host Grotesk"/>
                  </a:rPr>
                </a:br>
                <a:r>
                  <a:rPr b="1" i="0" lang="en-US" sz="1750" u="none" cap="none" strike="noStrike">
                    <a:solidFill>
                      <a:srgbClr val="1C1C1C"/>
                    </a:solidFill>
                    <a:latin typeface="Host Grotesk"/>
                    <a:ea typeface="Host Grotesk"/>
                    <a:cs typeface="Host Grotesk"/>
                    <a:sym typeface="Host Grotesk"/>
                  </a:rPr>
                  <a:t>as its own layer</a:t>
                </a:r>
                <a:endParaRPr i="0" sz="1750" u="none" cap="none" strike="noStrike">
                  <a:solidFill>
                    <a:srgbClr val="1C1C1C"/>
                  </a:solidFill>
                  <a:latin typeface="Host Grotesk"/>
                  <a:ea typeface="Host Grotesk"/>
                  <a:cs typeface="Host Grotesk"/>
                  <a:sym typeface="Host Grotesk"/>
                </a:endParaRPr>
              </a:p>
            </p:txBody>
          </p:sp>
          <p:sp>
            <p:nvSpPr>
              <p:cNvPr id="151" name="Google Shape;151;p9"/>
              <p:cNvSpPr/>
              <p:nvPr/>
            </p:nvSpPr>
            <p:spPr>
              <a:xfrm>
                <a:off x="924300" y="5211451"/>
                <a:ext cx="2943600" cy="100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467"/>
                  </a:buClr>
                  <a:buSzPts val="1400"/>
                  <a:buFont typeface="Calibri"/>
                  <a:buNone/>
                </a:pPr>
                <a:r>
                  <a:rPr i="0" lang="en-US" sz="1400" u="none" cap="none" strike="noStrike">
                    <a:solidFill>
                      <a:srgbClr val="475467"/>
                    </a:solidFill>
                    <a:latin typeface="Host Grotesk"/>
                    <a:ea typeface="Host Grotesk"/>
                    <a:cs typeface="Host Grotesk"/>
                    <a:sym typeface="Host Grotesk"/>
                  </a:rPr>
                  <a:t>Change your ERP, add a country, or absorb an acquisition — without rebuilding compliance each time.</a:t>
                </a:r>
                <a:endParaRPr i="0" sz="1400" u="none" cap="none" strike="noStrike">
                  <a:solidFill>
                    <a:schemeClr val="dk1"/>
                  </a:solidFill>
                  <a:latin typeface="Host Grotesk"/>
                  <a:ea typeface="Host Grotesk"/>
                  <a:cs typeface="Host Grotesk"/>
                  <a:sym typeface="Host Grotesk"/>
                </a:endParaRPr>
              </a:p>
            </p:txBody>
          </p:sp>
        </p:grpSp>
        <p:sp>
          <p:nvSpPr>
            <p:cNvPr id="152" name="Google Shape;152;p9"/>
            <p:cNvSpPr/>
            <p:nvPr/>
          </p:nvSpPr>
          <p:spPr>
            <a:xfrm>
              <a:off x="7997057" y="3179300"/>
              <a:ext cx="3573300" cy="3275400"/>
            </a:xfrm>
            <a:prstGeom prst="roundRect">
              <a:avLst>
                <a:gd fmla="val 9004" name="adj"/>
              </a:avLst>
            </a:prstGeom>
            <a:gradFill>
              <a:gsLst>
                <a:gs pos="0">
                  <a:srgbClr val="DFECFF"/>
                </a:gs>
                <a:gs pos="100000">
                  <a:srgbClr val="DFECFF">
                    <a:alpha val="0"/>
                  </a:srgbClr>
                </a:gs>
              </a:gsLst>
              <a:lin ang="3001153" scaled="0"/>
            </a:gradFill>
            <a:ln cap="flat" cmpd="sng" w="9525">
              <a:solidFill>
                <a:srgbClr val="C6D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t/>
              </a:r>
              <a:endParaRPr sz="1200">
                <a:latin typeface="Host Grotesk"/>
                <a:ea typeface="Host Grotesk"/>
                <a:cs typeface="Host Grotesk"/>
                <a:sym typeface="Host Grotesk"/>
              </a:endParaRPr>
            </a:p>
          </p:txBody>
        </p:sp>
        <p:grpSp>
          <p:nvGrpSpPr>
            <p:cNvPr id="153" name="Google Shape;153;p9"/>
            <p:cNvGrpSpPr/>
            <p:nvPr/>
          </p:nvGrpSpPr>
          <p:grpSpPr>
            <a:xfrm>
              <a:off x="4548650" y="3469395"/>
              <a:ext cx="2943481" cy="2750656"/>
              <a:chOff x="4548650" y="3469395"/>
              <a:chExt cx="2943481" cy="2750656"/>
            </a:xfrm>
          </p:grpSpPr>
          <p:sp>
            <p:nvSpPr>
              <p:cNvPr id="154" name="Google Shape;154;p9"/>
              <p:cNvSpPr/>
              <p:nvPr/>
            </p:nvSpPr>
            <p:spPr>
              <a:xfrm>
                <a:off x="4548708" y="3469395"/>
                <a:ext cx="1962300" cy="9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50A8"/>
                  </a:buClr>
                  <a:buSzPts val="4800"/>
                  <a:buFont typeface="Calibri"/>
                  <a:buNone/>
                </a:pPr>
                <a:r>
                  <a:rPr b="1" i="0" lang="en-US" sz="4800" u="none" cap="none" strike="noStrike">
                    <a:solidFill>
                      <a:srgbClr val="1E50A8"/>
                    </a:solidFill>
                    <a:latin typeface="Host Grotesk"/>
                    <a:ea typeface="Host Grotesk"/>
                    <a:cs typeface="Host Grotesk"/>
                    <a:sym typeface="Host Grotesk"/>
                  </a:rPr>
                  <a:t>02</a:t>
                </a:r>
                <a:endParaRPr b="1" i="0" sz="4800" u="none" cap="none" strike="noStrike">
                  <a:solidFill>
                    <a:schemeClr val="dk1"/>
                  </a:solidFill>
                  <a:latin typeface="Host Grotesk"/>
                  <a:ea typeface="Host Grotesk"/>
                  <a:cs typeface="Host Grotesk"/>
                  <a:sym typeface="Host Grotesk"/>
                </a:endParaRPr>
              </a:p>
            </p:txBody>
          </p:sp>
          <p:sp>
            <p:nvSpPr>
              <p:cNvPr id="155" name="Google Shape;155;p9"/>
              <p:cNvSpPr/>
              <p:nvPr/>
            </p:nvSpPr>
            <p:spPr>
              <a:xfrm>
                <a:off x="4568331" y="4388553"/>
                <a:ext cx="2923800" cy="82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4306E"/>
                  </a:buClr>
                  <a:buSzPts val="1750"/>
                  <a:buFont typeface="Calibri"/>
                  <a:buNone/>
                </a:pPr>
                <a:r>
                  <a:rPr b="1" i="0" lang="en-US" sz="1750" u="none" cap="none" strike="noStrike">
                    <a:solidFill>
                      <a:srgbClr val="1C1C1C"/>
                    </a:solidFill>
                    <a:latin typeface="Host Grotesk"/>
                    <a:ea typeface="Host Grotesk"/>
                    <a:cs typeface="Host Grotesk"/>
                    <a:sym typeface="Host Grotesk"/>
                  </a:rPr>
                  <a:t>API-first, mandate-agnostic</a:t>
                </a:r>
                <a:endParaRPr i="0" sz="1750" u="none" cap="none" strike="noStrike">
                  <a:solidFill>
                    <a:srgbClr val="1C1C1C"/>
                  </a:solidFill>
                  <a:latin typeface="Host Grotesk"/>
                  <a:ea typeface="Host Grotesk"/>
                  <a:cs typeface="Host Grotesk"/>
                  <a:sym typeface="Host Grotesk"/>
                </a:endParaRPr>
              </a:p>
            </p:txBody>
          </p:sp>
          <p:sp>
            <p:nvSpPr>
              <p:cNvPr id="156" name="Google Shape;156;p9"/>
              <p:cNvSpPr/>
              <p:nvPr/>
            </p:nvSpPr>
            <p:spPr>
              <a:xfrm>
                <a:off x="4548650" y="5211451"/>
                <a:ext cx="2923800" cy="100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467"/>
                  </a:buClr>
                  <a:buSzPts val="1400"/>
                  <a:buFont typeface="Calibri"/>
                  <a:buNone/>
                </a:pPr>
                <a:r>
                  <a:rPr i="0" lang="en-US" sz="1400" u="none" cap="none" strike="noStrike">
                    <a:solidFill>
                      <a:srgbClr val="475467"/>
                    </a:solidFill>
                    <a:latin typeface="Host Grotesk"/>
                    <a:ea typeface="Host Grotesk"/>
                    <a:cs typeface="Host Grotesk"/>
                    <a:sym typeface="Host Grotesk"/>
                  </a:rPr>
                  <a:t>One connector for every country. New mandates arrive as config, not code. Your team controls </a:t>
                </a:r>
                <a:endParaRPr i="0" sz="1400" u="none" cap="none" strike="noStrike">
                  <a:solidFill>
                    <a:srgbClr val="475467"/>
                  </a:solidFill>
                  <a:latin typeface="Host Grotesk"/>
                  <a:ea typeface="Host Grotesk"/>
                  <a:cs typeface="Host Grotesk"/>
                  <a:sym typeface="Host Grotesk"/>
                </a:endParaRPr>
              </a:p>
              <a:p>
                <a:pPr indent="0" lvl="0" marL="0" marR="0" rtl="0" algn="l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467"/>
                  </a:buClr>
                  <a:buSzPts val="1400"/>
                  <a:buFont typeface="Calibri"/>
                  <a:buNone/>
                </a:pPr>
                <a:r>
                  <a:rPr i="0" lang="en-US" sz="1400" u="none" cap="none" strike="noStrike">
                    <a:solidFill>
                      <a:srgbClr val="475467"/>
                    </a:solidFill>
                    <a:latin typeface="Host Grotesk"/>
                    <a:ea typeface="Host Grotesk"/>
                    <a:cs typeface="Host Grotesk"/>
                    <a:sym typeface="Host Grotesk"/>
                  </a:rPr>
                  <a:t>the timeline.</a:t>
                </a:r>
                <a:endParaRPr i="0" sz="1400" u="none" cap="none" strike="noStrike">
                  <a:solidFill>
                    <a:schemeClr val="dk1"/>
                  </a:solidFill>
                  <a:latin typeface="Host Grotesk"/>
                  <a:ea typeface="Host Grotesk"/>
                  <a:cs typeface="Host Grotesk"/>
                  <a:sym typeface="Host Grotesk"/>
                </a:endParaRPr>
              </a:p>
            </p:txBody>
          </p:sp>
        </p:grpSp>
        <p:grpSp>
          <p:nvGrpSpPr>
            <p:cNvPr id="157" name="Google Shape;157;p9"/>
            <p:cNvGrpSpPr/>
            <p:nvPr/>
          </p:nvGrpSpPr>
          <p:grpSpPr>
            <a:xfrm>
              <a:off x="8328151" y="3469400"/>
              <a:ext cx="2911112" cy="2564951"/>
              <a:chOff x="8311900" y="3469400"/>
              <a:chExt cx="2911112" cy="2564951"/>
            </a:xfrm>
          </p:grpSpPr>
          <p:sp>
            <p:nvSpPr>
              <p:cNvPr id="158" name="Google Shape;158;p9"/>
              <p:cNvSpPr/>
              <p:nvPr/>
            </p:nvSpPr>
            <p:spPr>
              <a:xfrm>
                <a:off x="8311900" y="3469400"/>
                <a:ext cx="1940700" cy="9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50A8"/>
                  </a:buClr>
                  <a:buSzPts val="4800"/>
                  <a:buFont typeface="Calibri"/>
                  <a:buNone/>
                </a:pPr>
                <a:r>
                  <a:rPr b="1" i="0" lang="en-US" sz="4800" u="none" cap="none" strike="noStrike">
                    <a:solidFill>
                      <a:srgbClr val="1E50A8"/>
                    </a:solidFill>
                    <a:latin typeface="Host Grotesk"/>
                    <a:ea typeface="Host Grotesk"/>
                    <a:cs typeface="Host Grotesk"/>
                    <a:sym typeface="Host Grotesk"/>
                  </a:rPr>
                  <a:t>03</a:t>
                </a:r>
                <a:endParaRPr i="0" sz="4800" u="none" cap="none" strike="noStrike">
                  <a:solidFill>
                    <a:schemeClr val="dk1"/>
                  </a:solidFill>
                  <a:latin typeface="Host Grotesk"/>
                  <a:ea typeface="Host Grotesk"/>
                  <a:cs typeface="Host Grotesk"/>
                  <a:sym typeface="Host Grotesk"/>
                </a:endParaRPr>
              </a:p>
            </p:txBody>
          </p:sp>
          <p:sp>
            <p:nvSpPr>
              <p:cNvPr id="159" name="Google Shape;159;p9"/>
              <p:cNvSpPr/>
              <p:nvPr/>
            </p:nvSpPr>
            <p:spPr>
              <a:xfrm>
                <a:off x="8331307" y="4388553"/>
                <a:ext cx="2891700" cy="82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4306E"/>
                  </a:buClr>
                  <a:buSzPts val="1750"/>
                  <a:buFont typeface="Calibri"/>
                  <a:buNone/>
                </a:pPr>
                <a:r>
                  <a:rPr b="1" i="0" lang="en-US" sz="1750" u="none" cap="none" strike="noStrike">
                    <a:solidFill>
                      <a:srgbClr val="1C1C1C"/>
                    </a:solidFill>
                    <a:latin typeface="Host Grotesk"/>
                    <a:ea typeface="Host Grotesk"/>
                    <a:cs typeface="Host Grotesk"/>
                    <a:sym typeface="Host Grotesk"/>
                  </a:rPr>
                  <a:t>Build for the </a:t>
                </a:r>
                <a:br>
                  <a:rPr b="1" i="0" lang="en-US" sz="1750" u="none" cap="none" strike="noStrike">
                    <a:solidFill>
                      <a:srgbClr val="1C1C1C"/>
                    </a:solidFill>
                    <a:latin typeface="Host Grotesk"/>
                    <a:ea typeface="Host Grotesk"/>
                    <a:cs typeface="Host Grotesk"/>
                    <a:sym typeface="Host Grotesk"/>
                  </a:rPr>
                </a:br>
                <a:r>
                  <a:rPr b="1" i="0" lang="en-US" sz="1750" u="none" cap="none" strike="noStrike">
                    <a:solidFill>
                      <a:srgbClr val="1C1C1C"/>
                    </a:solidFill>
                    <a:latin typeface="Host Grotesk"/>
                    <a:ea typeface="Host Grotesk"/>
                    <a:cs typeface="Host Grotesk"/>
                    <a:sym typeface="Host Grotesk"/>
                  </a:rPr>
                  <a:t>agentic-AI future</a:t>
                </a:r>
                <a:endParaRPr i="0" sz="1750" u="none" cap="none" strike="noStrike">
                  <a:solidFill>
                    <a:srgbClr val="1C1C1C"/>
                  </a:solidFill>
                  <a:latin typeface="Host Grotesk"/>
                  <a:ea typeface="Host Grotesk"/>
                  <a:cs typeface="Host Grotesk"/>
                  <a:sym typeface="Host Grotesk"/>
                </a:endParaRPr>
              </a:p>
            </p:txBody>
          </p:sp>
          <p:sp>
            <p:nvSpPr>
              <p:cNvPr id="160" name="Google Shape;160;p9"/>
              <p:cNvSpPr/>
              <p:nvPr/>
            </p:nvSpPr>
            <p:spPr>
              <a:xfrm>
                <a:off x="8331312" y="5211451"/>
                <a:ext cx="2891700" cy="82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467"/>
                  </a:buClr>
                  <a:buSzPts val="1400"/>
                  <a:buFont typeface="Calibri"/>
                  <a:buNone/>
                </a:pPr>
                <a:r>
                  <a:rPr i="0" lang="en-US" sz="1400" u="none" cap="none" strike="noStrike">
                    <a:solidFill>
                      <a:srgbClr val="475467"/>
                    </a:solidFill>
                    <a:latin typeface="Host Grotesk"/>
                    <a:ea typeface="Host Grotesk"/>
                    <a:cs typeface="Host Grotesk"/>
                    <a:sym typeface="Host Grotesk"/>
                  </a:rPr>
                  <a:t>Agents reconcile invoice ↔ GL ↔ VAT and handle the 95%. Humans see only the exceptions.</a:t>
                </a:r>
                <a:endParaRPr i="0" sz="1400" u="none" cap="none" strike="noStrike">
                  <a:solidFill>
                    <a:schemeClr val="dk1"/>
                  </a:solidFill>
                  <a:latin typeface="Host Grotesk"/>
                  <a:ea typeface="Host Grotesk"/>
                  <a:cs typeface="Host Grotesk"/>
                  <a:sym typeface="Host Grotesk"/>
                </a:endParaRPr>
              </a:p>
            </p:txBody>
          </p:sp>
        </p:grpSp>
      </p:grpSp>
      <p:grpSp>
        <p:nvGrpSpPr>
          <p:cNvPr id="161" name="Google Shape;161;p9"/>
          <p:cNvGrpSpPr/>
          <p:nvPr/>
        </p:nvGrpSpPr>
        <p:grpSpPr>
          <a:xfrm>
            <a:off x="924298" y="1713356"/>
            <a:ext cx="10314902" cy="745063"/>
            <a:chOff x="924298" y="1653825"/>
            <a:chExt cx="10314902" cy="745063"/>
          </a:xfrm>
        </p:grpSpPr>
        <p:sp>
          <p:nvSpPr>
            <p:cNvPr id="162" name="Google Shape;162;p9"/>
            <p:cNvSpPr/>
            <p:nvPr/>
          </p:nvSpPr>
          <p:spPr>
            <a:xfrm>
              <a:off x="924298" y="1653825"/>
              <a:ext cx="44730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A6BD0"/>
                </a:buClr>
                <a:buSzPts val="1250"/>
                <a:buFont typeface="Calibri"/>
                <a:buNone/>
              </a:pPr>
              <a:r>
                <a:rPr b="1" lang="en-US" sz="1250">
                  <a:solidFill>
                    <a:srgbClr val="1E50A8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GLOBALLY, HERE IS </a:t>
              </a:r>
              <a:r>
                <a:rPr b="1" i="0" lang="en-US" sz="1250" u="none" cap="none" strike="noStrike">
                  <a:solidFill>
                    <a:srgbClr val="1E50A8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WHAT</a:t>
              </a:r>
              <a:r>
                <a:rPr b="1" lang="en-US" sz="1250">
                  <a:solidFill>
                    <a:srgbClr val="1E50A8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 </a:t>
              </a:r>
              <a:r>
                <a:rPr b="1" i="0" lang="en-US" sz="1250" u="none" cap="none" strike="noStrike">
                  <a:solidFill>
                    <a:srgbClr val="1E50A8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THE WINNERS DID DIFFERENTLY</a:t>
              </a:r>
              <a:endParaRPr i="0" sz="1250" u="none" cap="none" strike="noStrike">
                <a:solidFill>
                  <a:srgbClr val="1E50A8"/>
                </a:solidFill>
                <a:latin typeface="Host Grotesk"/>
                <a:ea typeface="Host Grotesk"/>
                <a:cs typeface="Host Grotesk"/>
                <a:sym typeface="Host Grotesk"/>
              </a:endParaRPr>
            </a:p>
          </p:txBody>
        </p:sp>
        <p:sp>
          <p:nvSpPr>
            <p:cNvPr id="163" name="Google Shape;163;p9"/>
            <p:cNvSpPr/>
            <p:nvPr/>
          </p:nvSpPr>
          <p:spPr>
            <a:xfrm>
              <a:off x="924300" y="1947988"/>
              <a:ext cx="10314900" cy="4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306E"/>
                </a:buClr>
                <a:buSzPts val="2900"/>
                <a:buFont typeface="Calibri"/>
                <a:buNone/>
              </a:pPr>
              <a:r>
                <a:rPr b="1" i="0" lang="en-US" sz="2900" u="none" cap="none" strike="noStrike">
                  <a:solidFill>
                    <a:srgbClr val="1E50A8"/>
                  </a:solidFill>
                  <a:latin typeface="Host Grotesk"/>
                  <a:ea typeface="Host Grotesk"/>
                  <a:cs typeface="Host Grotesk"/>
                  <a:sym typeface="Host Grotesk"/>
                </a:rPr>
                <a:t>Three architectural decisions, made before go-live.</a:t>
              </a:r>
              <a:endParaRPr i="0" sz="2900" u="none" cap="none" strike="noStrike">
                <a:solidFill>
                  <a:srgbClr val="1E50A8"/>
                </a:solidFill>
                <a:latin typeface="Host Grotesk"/>
                <a:ea typeface="Host Grotesk"/>
                <a:cs typeface="Host Grotesk"/>
                <a:sym typeface="Host Grotesk"/>
              </a:endParaRPr>
            </a:p>
          </p:txBody>
        </p:sp>
      </p:grpSp>
      <p:pic>
        <p:nvPicPr>
          <p:cNvPr id="164" name="Google Shape;164;p9" title="Group 10000020811.png"/>
          <p:cNvPicPr preferRelativeResize="0"/>
          <p:nvPr/>
        </p:nvPicPr>
        <p:blipFill rotWithShape="1">
          <a:blip r:embed="rId4">
            <a:alphaModFix/>
          </a:blip>
          <a:srcRect b="0" l="-1215" r="0" t="0"/>
          <a:stretch/>
        </p:blipFill>
        <p:spPr>
          <a:xfrm>
            <a:off x="609450" y="438700"/>
            <a:ext cx="1072077" cy="24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9" title="shutterstock_2314567365 [Converted]11111 1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8399" y="6492625"/>
            <a:ext cx="1377150" cy="960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9" title="1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404066" y="118875"/>
            <a:ext cx="1377147" cy="1275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9" title="shutterstock_2314567365 [Converted]11111 1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2699996">
            <a:off x="-762118" y="1097478"/>
            <a:ext cx="1161410" cy="1075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/>
          <p:nvPr/>
        </p:nvSpPr>
        <p:spPr>
          <a:xfrm>
            <a:off x="762000" y="2102550"/>
            <a:ext cx="56877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lang="en-US" sz="5300">
                <a:solidFill>
                  <a:srgbClr val="114D9C"/>
                </a:solidFill>
                <a:latin typeface="Host Grotesk"/>
                <a:ea typeface="Host Grotesk"/>
                <a:cs typeface="Host Grotesk"/>
                <a:sym typeface="Host Grotesk"/>
              </a:rPr>
              <a:t>January</a:t>
            </a:r>
            <a:r>
              <a:rPr i="0" lang="en-US" sz="5300" u="none" cap="none" strike="noStrike">
                <a:solidFill>
                  <a:srgbClr val="114D9C"/>
                </a:solidFill>
                <a:latin typeface="Host Grotesk"/>
                <a:ea typeface="Host Grotesk"/>
                <a:cs typeface="Host Grotesk"/>
                <a:sym typeface="Host Grotesk"/>
              </a:rPr>
              <a:t> 1st</a:t>
            </a:r>
            <a:endParaRPr i="0" sz="5300" u="none" cap="none" strike="noStrike">
              <a:solidFill>
                <a:srgbClr val="114D9C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762000" y="2889254"/>
            <a:ext cx="65898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5300" u="none" cap="none" strike="noStrike">
                <a:solidFill>
                  <a:srgbClr val="114D9C"/>
                </a:solidFill>
                <a:latin typeface="Host Grotesk"/>
                <a:ea typeface="Host Grotesk"/>
                <a:cs typeface="Host Grotesk"/>
                <a:sym typeface="Host Grotesk"/>
              </a:rPr>
              <a:t>isn't the finish line.</a:t>
            </a:r>
            <a:endParaRPr i="0" sz="5300" u="none" cap="none" strike="noStrike">
              <a:solidFill>
                <a:srgbClr val="114D9C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762000" y="4509450"/>
            <a:ext cx="62565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i="0" lang="en-US" sz="2200" u="none" cap="none" strike="noStrike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rPr>
              <a:t>The decisions you make in the next </a:t>
            </a:r>
            <a:r>
              <a:rPr lang="en-US" sz="2200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rPr>
              <a:t>few </a:t>
            </a:r>
            <a:r>
              <a:rPr i="0" lang="en-US" sz="2200" u="none" cap="none" strike="noStrike">
                <a:solidFill>
                  <a:schemeClr val="dk1"/>
                </a:solidFill>
                <a:latin typeface="Host Grotesk"/>
                <a:ea typeface="Host Grotesk"/>
                <a:cs typeface="Host Grotesk"/>
                <a:sym typeface="Host Grotesk"/>
              </a:rPr>
              <a:t>weeks shape the next 10 years.</a:t>
            </a:r>
            <a:endParaRPr i="0" sz="2200" u="none" cap="none" strike="noStrike">
              <a:solidFill>
                <a:schemeClr val="dk1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762000" y="6327775"/>
            <a:ext cx="235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"/>
            <a:ext cx="12192000" cy="83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0" title="shutterstock_2314567365 [Converted]11111 1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61481" y="5765884"/>
            <a:ext cx="1317250" cy="918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0" title="1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325406" y="124867"/>
            <a:ext cx="1317273" cy="1219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0" title="shutterstock_2314567365 [Converted]11111 1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2700000">
            <a:off x="-758981" y="831699"/>
            <a:ext cx="1110915" cy="102873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0"/>
          <p:cNvSpPr/>
          <p:nvPr/>
        </p:nvSpPr>
        <p:spPr>
          <a:xfrm>
            <a:off x="818450" y="4092217"/>
            <a:ext cx="5475300" cy="14100"/>
          </a:xfrm>
          <a:prstGeom prst="rect">
            <a:avLst/>
          </a:prstGeom>
          <a:gradFill>
            <a:gsLst>
              <a:gs pos="0">
                <a:srgbClr val="0A6CD1"/>
              </a:gs>
              <a:gs pos="100000">
                <a:srgbClr val="5C33E6"/>
              </a:gs>
            </a:gsLst>
            <a:lin ang="3001153" scaled="0"/>
          </a:gradFill>
          <a:ln cap="flat" cmpd="sng" w="6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182" name="Google Shape;182;p10" title="Group 10000020811.png"/>
          <p:cNvPicPr preferRelativeResize="0"/>
          <p:nvPr/>
        </p:nvPicPr>
        <p:blipFill rotWithShape="1">
          <a:blip r:embed="rId8">
            <a:alphaModFix/>
          </a:blip>
          <a:srcRect b="0" l="-1215" r="0" t="0"/>
          <a:stretch/>
        </p:blipFill>
        <p:spPr>
          <a:xfrm>
            <a:off x="609450" y="438700"/>
            <a:ext cx="1072077" cy="24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"/>
          <p:cNvSpPr/>
          <p:nvPr/>
        </p:nvSpPr>
        <p:spPr>
          <a:xfrm>
            <a:off x="707420" y="3112950"/>
            <a:ext cx="10972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700"/>
              <a:buFont typeface="Georgia"/>
              <a:buNone/>
            </a:pPr>
            <a:r>
              <a:rPr b="1" i="1" lang="en-US" sz="11700" u="none" cap="none" strike="noStrike">
                <a:solidFill>
                  <a:srgbClr val="1A1A1A"/>
                </a:solidFill>
                <a:latin typeface="Host Grotesk"/>
                <a:ea typeface="Host Grotesk"/>
                <a:cs typeface="Host Grotesk"/>
                <a:sym typeface="Host Grotesk"/>
              </a:rPr>
              <a:t>Thank you</a:t>
            </a:r>
            <a:r>
              <a:rPr b="1" i="0" lang="en-US" sz="11700" u="none" cap="none" strike="noStrike">
                <a:solidFill>
                  <a:srgbClr val="114D9C"/>
                </a:solidFill>
                <a:latin typeface="Host Grotesk"/>
                <a:ea typeface="Host Grotesk"/>
                <a:cs typeface="Host Grotesk"/>
                <a:sym typeface="Host Grotesk"/>
              </a:rPr>
              <a:t>.</a:t>
            </a:r>
            <a:endParaRPr b="0" i="0" sz="11700" u="none" cap="none" strike="noStrike">
              <a:solidFill>
                <a:srgbClr val="114D9C"/>
              </a:solidFill>
              <a:latin typeface="Host Grotesk"/>
              <a:ea typeface="Host Grotesk"/>
              <a:cs typeface="Host Grotesk"/>
              <a:sym typeface="Host Grotesk"/>
            </a:endParaRPr>
          </a:p>
        </p:txBody>
      </p:sp>
      <p:pic>
        <p:nvPicPr>
          <p:cNvPr id="189" name="Google Shape;18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5"/>
            <a:ext cx="12192005" cy="83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1" title="Group 10000020811.png"/>
          <p:cNvPicPr preferRelativeResize="0"/>
          <p:nvPr/>
        </p:nvPicPr>
        <p:blipFill rotWithShape="1">
          <a:blip r:embed="rId5">
            <a:alphaModFix/>
          </a:blip>
          <a:srcRect b="0" l="-1215" r="0" t="0"/>
          <a:stretch/>
        </p:blipFill>
        <p:spPr>
          <a:xfrm>
            <a:off x="609450" y="438700"/>
            <a:ext cx="1072077" cy="24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