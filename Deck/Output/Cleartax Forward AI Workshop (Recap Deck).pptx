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 name="Rectangle 1"/>
          <p:cNvSpPr/>
          <p:nvPr/>
        </p:nvSpPr>
        <p:spPr>
          <a:xfrm>
            <a:off x="0" y="0"/>
            <a:ext cx="12191695" cy="685800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Picture 2" descr="dotgrid_light.png"/>
          <p:cNvPicPr>
            <a:picLocks noChangeAspect="1"/>
          </p:cNvPicPr>
          <p:nvPr/>
        </p:nvPicPr>
        <p:blipFill>
          <a:blip r:embed="rId2"/>
          <a:stretch>
            <a:fillRect/>
          </a:stretch>
        </p:blipFill>
        <p:spPr>
          <a:xfrm>
            <a:off x="8229600" y="0"/>
            <a:ext cx="4023360" cy="6858000"/>
          </a:xfrm>
          <a:prstGeom prst="rect">
            <a:avLst/>
          </a:prstGeom>
        </p:spPr>
      </p:pic>
      <p:pic>
        <p:nvPicPr>
          <p:cNvPr id="3" name="Picture 3" descr="Cleartax-logo-black.png"/>
          <p:cNvPicPr>
            <a:picLocks noChangeAspect="1"/>
          </p:cNvPicPr>
          <p:nvPr/>
        </p:nvPicPr>
        <p:blipFill>
          <a:blip r:embed="rId3"/>
          <a:stretch>
            <a:fillRect/>
          </a:stretch>
        </p:blipFill>
        <p:spPr>
          <a:xfrm>
            <a:off x="685800" y="914400"/>
            <a:ext cx="3657600" cy="831796"/>
          </a:xfrm>
          <a:prstGeom prst="rect">
            <a:avLst/>
          </a:prstGeom>
        </p:spPr>
      </p:pic>
      <p:sp>
        <p:nvSpPr>
          <p:cNvPr id="4" name="TextBox 4"/>
          <p:cNvSpPr txBox="1"/>
          <p:nvPr/>
        </p:nvSpPr>
        <p:spPr>
          <a:xfrm>
            <a:off x="685800" y="3017520"/>
            <a:ext cx="7315200" cy="365760"/>
          </a:xfrm>
          <a:prstGeom prst="rect">
            <a:avLst/>
          </a:prstGeom>
          <a:noFill/>
        </p:spPr>
        <p:txBody>
          <a:bodyPr wrap="square" anchor="t" lIns="0" rIns="0" tIns="0" bIns="0">
            <a:spAutoFit/>
          </a:bodyPr>
          <a:lstStyle/>
          <a:p>
            <a:pPr algn="l"/>
            <a:r>
              <a:rPr sz="1300" b="1" i="0">
                <a:solidFill>
                  <a:srgbClr val="5446FF"/>
                </a:solidFill>
                <a:latin typeface="Google Sans"/>
              </a:rPr>
              <a:t>W O R K S H O P</a:t>
            </a:r>
          </a:p>
        </p:txBody>
      </p:sp>
      <p:sp>
        <p:nvSpPr>
          <p:cNvPr id="5" name="TextBox 5"/>
          <p:cNvSpPr txBox="1"/>
          <p:nvPr/>
        </p:nvSpPr>
        <p:spPr>
          <a:xfrm>
            <a:off x="685800" y="3383280"/>
            <a:ext cx="8229600" cy="1188720"/>
          </a:xfrm>
          <a:prstGeom prst="rect">
            <a:avLst/>
          </a:prstGeom>
          <a:noFill/>
        </p:spPr>
        <p:txBody>
          <a:bodyPr wrap="square" anchor="t" lIns="0" rIns="0" tIns="0" bIns="0">
            <a:spAutoFit/>
          </a:bodyPr>
          <a:lstStyle/>
          <a:p>
            <a:pPr algn="l"/>
            <a:r>
              <a:rPr sz="4400" b="1" i="0">
                <a:solidFill>
                  <a:srgbClr val="05022A"/>
                </a:solidFill>
                <a:latin typeface="Google Sans"/>
              </a:rPr>
              <a:t>Forward AI</a:t>
            </a:r>
          </a:p>
        </p:txBody>
      </p:sp>
      <p:sp>
        <p:nvSpPr>
          <p:cNvPr id="6" name="TextBox 6"/>
          <p:cNvSpPr txBox="1"/>
          <p:nvPr/>
        </p:nvSpPr>
        <p:spPr>
          <a:xfrm>
            <a:off x="685800" y="4434840"/>
            <a:ext cx="7498079" cy="822960"/>
          </a:xfrm>
          <a:prstGeom prst="rect">
            <a:avLst/>
          </a:prstGeom>
          <a:noFill/>
        </p:spPr>
        <p:txBody>
          <a:bodyPr wrap="square" anchor="t" lIns="0" rIns="0" tIns="0" bIns="0">
            <a:spAutoFit/>
          </a:bodyPr>
          <a:lstStyle/>
          <a:p>
            <a:pPr algn="l">
              <a:lnSpc>
                <a:spcPct val="130000"/>
              </a:lnSpc>
            </a:pPr>
            <a:r>
              <a:rPr sz="1500" b="0" i="0">
                <a:solidFill>
                  <a:srgbClr val="5B5B6B"/>
                </a:solidFill>
                <a:latin typeface="Google Sans"/>
              </a:rPr>
              <a:t>Celebrating the winners of Cleartax's GST &amp; Tax Innovation Challenge.</a:t>
            </a:r>
          </a:p>
        </p:txBody>
      </p:sp>
      <p:sp>
        <p:nvSpPr>
          <p:cNvPr id="7" name="TextBox 7"/>
          <p:cNvSpPr txBox="1"/>
          <p:nvPr/>
        </p:nvSpPr>
        <p:spPr>
          <a:xfrm>
            <a:off x="685800" y="6473952"/>
            <a:ext cx="5486400" cy="274320"/>
          </a:xfrm>
          <a:prstGeom prst="rect">
            <a:avLst/>
          </a:prstGeom>
          <a:noFill/>
        </p:spPr>
        <p:txBody>
          <a:bodyPr wrap="square" anchor="t" lIns="0" rIns="0" tIns="0" bIns="0">
            <a:spAutoFit/>
          </a:bodyPr>
          <a:lstStyle/>
          <a:p>
            <a:pPr algn="l"/>
            <a:r>
              <a:rPr sz="950" b="0" i="0">
                <a:solidFill>
                  <a:srgbClr val="8D8D9A"/>
                </a:solidFill>
                <a:latin typeface="Google Sans"/>
              </a:rPr>
              <a:t>cleartax  ·  Forward AI Workshop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2"/>
          <p:cNvSpPr txBox="1"/>
          <p:nvPr/>
        </p:nvSpPr>
        <p:spPr>
          <a:xfrm>
            <a:off x="685800" y="502920"/>
            <a:ext cx="8229600" cy="320040"/>
          </a:xfrm>
          <a:prstGeom prst="rect">
            <a:avLst/>
          </a:prstGeom>
          <a:noFill/>
        </p:spPr>
        <p:txBody>
          <a:bodyPr wrap="square" anchor="t" lIns="0" rIns="0" tIns="0" bIns="0">
            <a:spAutoFit/>
          </a:bodyPr>
          <a:lstStyle/>
          <a:p>
            <a:pPr algn="l"/>
            <a:r>
              <a:rPr sz="1200" b="1" i="0">
                <a:solidFill>
                  <a:srgbClr val="05022A"/>
                </a:solidFill>
                <a:latin typeface="Google Sans"/>
              </a:rPr>
              <a:t>T H A N K   Y O U</a:t>
            </a:r>
          </a:p>
        </p:txBody>
      </p:sp>
      <p:pic>
        <p:nvPicPr>
          <p:cNvPr id="10" name="Picture 3" descr="Cleartax-logo-black.png"/>
          <p:cNvPicPr>
            <a:picLocks noChangeAspect="1"/>
          </p:cNvPicPr>
          <p:nvPr/>
        </p:nvPicPr>
        <p:blipFill>
          <a:blip r:embed="rId2"/>
          <a:stretch>
            <a:fillRect/>
          </a:stretch>
        </p:blipFill>
        <p:spPr>
          <a:xfrm>
            <a:off x="10454335" y="502920"/>
            <a:ext cx="1051560" cy="239141"/>
          </a:xfrm>
          <a:prstGeom prst="rect">
            <a:avLst/>
          </a:prstGeom>
        </p:spPr>
      </p:pic>
      <p:sp>
        <p:nvSpPr>
          <p:cNvPr id="11" name="TextBox 4"/>
          <p:cNvSpPr txBox="1"/>
          <p:nvPr/>
        </p:nvSpPr>
        <p:spPr>
          <a:xfrm>
            <a:off x="685800" y="886968"/>
            <a:ext cx="8686800" cy="457200"/>
          </a:xfrm>
          <a:prstGeom prst="rect">
            <a:avLst/>
          </a:prstGeom>
          <a:noFill/>
        </p:spPr>
        <p:txBody>
          <a:bodyPr wrap="square" anchor="t" lIns="0" rIns="0" tIns="0" bIns="0">
            <a:spAutoFit/>
          </a:bodyPr>
          <a:lstStyle/>
          <a:p>
            <a:pPr algn="l">
              <a:lnSpc>
                <a:spcPct val="125000"/>
              </a:lnSpc>
            </a:pPr>
            <a:r>
              <a:rPr sz="1250" b="0" i="0">
                <a:solidFill>
                  <a:srgbClr val="5B5B6B"/>
                </a:solidFill>
                <a:latin typeface="Google Sans"/>
              </a:rPr>
              <a:t>To all our participants for making this workshop a success.</a:t>
            </a:r>
          </a:p>
        </p:txBody>
      </p:sp>
      <p:graphicFrame>
        <p:nvGraphicFramePr>
          <p:cNvPr id="12" name="Table 5"/>
          <p:cNvGraphicFramePr>
            <a:graphicFrameLocks noGrp="1"/>
          </p:cNvGraphicFramePr>
          <p:nvPr/>
        </p:nvGraphicFramePr>
        <p:xfrm>
          <a:off x="685800" y="1874519"/>
          <a:ext cx="5250027" cy="4617720"/>
        </p:xfrm>
        <a:graphic>
          <a:graphicData uri="http://schemas.openxmlformats.org/drawingml/2006/table">
            <a:tbl>
              <a:tblPr firstRow="1" bandRow="1">
                <a:tableStyleId>{5C22544A-7EE6-4342-B048-85BDC9FD1C3A}</a:tableStyleId>
              </a:tblPr>
              <a:tblGrid>
                <a:gridCol w="2331720"/>
                <a:gridCol w="2918307"/>
              </a:tblGrid>
              <a:tr h="419792">
                <a:tc>
                  <a:txBody>
                    <a:bodyPr wrap="square"/>
                    <a:lstStyle/>
                    <a:p>
                      <a:r>
                        <a:rPr sz="1100" b="1">
                          <a:solidFill>
                            <a:srgbClr val="FFFFFF"/>
                          </a:solidFill>
                          <a:latin typeface="Google Sans"/>
                        </a:rPr>
                        <a:t>Company</a:t>
                      </a:r>
                    </a:p>
                  </a:txBody>
                  <a:tcPr marL="109728" marR="109728" marT="54864" marB="54864" anchor="ctr">
                    <a:solidFill>
                      <a:srgbClr val="5446FF"/>
                    </a:solidFill>
                  </a:tcPr>
                </a:tc>
                <a:tc>
                  <a:txBody>
                    <a:bodyPr wrap="square"/>
                    <a:lstStyle/>
                    <a:p>
                      <a:r>
                        <a:rPr sz="1100" b="1">
                          <a:solidFill>
                            <a:srgbClr val="FFFFFF"/>
                          </a:solidFill>
                          <a:latin typeface="Google Sans"/>
                        </a:rPr>
                        <a:t>Customer</a:t>
                      </a:r>
                    </a:p>
                  </a:txBody>
                  <a:tcPr marL="109728" marR="109728" marT="54864" marB="54864" anchor="ctr">
                    <a:solidFill>
                      <a:srgbClr val="5446FF"/>
                    </a:solidFill>
                  </a:tcPr>
                </a:tc>
              </a:tr>
              <a:tr h="419792">
                <a:tc>
                  <a:txBody>
                    <a:bodyPr wrap="square"/>
                    <a:lstStyle/>
                    <a:p>
                      <a:r>
                        <a:rPr sz="950" b="0">
                          <a:solidFill>
                            <a:srgbClr val="05022A"/>
                          </a:solidFill>
                          <a:latin typeface="Google Sans"/>
                        </a:rPr>
                        <a:t>UNIPRODUCTS (INDIA) LIMITED</a:t>
                      </a:r>
                    </a:p>
                  </a:txBody>
                  <a:tcPr marL="109728" marR="109728" marT="54864" marB="54864" anchor="ctr">
                    <a:solidFill>
                      <a:srgbClr val="FFFFFF"/>
                    </a:solidFill>
                  </a:tcPr>
                </a:tc>
                <a:tc>
                  <a:txBody>
                    <a:bodyPr wrap="square"/>
                    <a:lstStyle/>
                    <a:p>
                      <a:r>
                        <a:rPr sz="950" b="0">
                          <a:solidFill>
                            <a:srgbClr val="05022A"/>
                          </a:solidFill>
                          <a:latin typeface="Google Sans"/>
                        </a:rPr>
                        <a:t>Mr. Rajesh Gupta, Tax Head</a:t>
                      </a:r>
                    </a:p>
                  </a:txBody>
                  <a:tcPr marL="109728" marR="109728" marT="54864" marB="54864" anchor="ctr">
                    <a:solidFill>
                      <a:srgbClr val="FFFFFF"/>
                    </a:solidFill>
                  </a:tcPr>
                </a:tc>
              </a:tr>
              <a:tr h="419792">
                <a:tc>
                  <a:txBody>
                    <a:bodyPr wrap="square"/>
                    <a:lstStyle/>
                    <a:p>
                      <a:r>
                        <a:rPr sz="950" b="0">
                          <a:solidFill>
                            <a:srgbClr val="05022A"/>
                          </a:solidFill>
                          <a:latin typeface="Google Sans"/>
                        </a:rPr>
                        <a:t>Coromandel</a:t>
                      </a:r>
                    </a:p>
                  </a:txBody>
                  <a:tcPr marL="109728" marR="109728" marT="54864" marB="54864" anchor="ctr">
                    <a:solidFill>
                      <a:srgbClr val="F7F7FA"/>
                    </a:solidFill>
                  </a:tcPr>
                </a:tc>
                <a:tc>
                  <a:txBody>
                    <a:bodyPr wrap="square"/>
                    <a:lstStyle/>
                    <a:p>
                      <a:r>
                        <a:rPr sz="950" b="0">
                          <a:solidFill>
                            <a:srgbClr val="05022A"/>
                          </a:solidFill>
                          <a:latin typeface="Google Sans"/>
                        </a:rPr>
                        <a:t>Amit Mishra (Senior Manager Taxation)</a:t>
                      </a:r>
                    </a:p>
                  </a:txBody>
                  <a:tcPr marL="109728" marR="109728" marT="54864" marB="54864" anchor="ctr">
                    <a:solidFill>
                      <a:srgbClr val="F7F7FA"/>
                    </a:solidFill>
                  </a:tcPr>
                </a:tc>
              </a:tr>
              <a:tr h="419792">
                <a:tc>
                  <a:txBody>
                    <a:bodyPr wrap="square"/>
                    <a:lstStyle/>
                    <a:p>
                      <a:r>
                        <a:rPr sz="950" b="0">
                          <a:solidFill>
                            <a:srgbClr val="05022A"/>
                          </a:solidFill>
                          <a:latin typeface="Google Sans"/>
                        </a:rPr>
                        <a:t>Parekh Integrated Services Pvt Ltd</a:t>
                      </a:r>
                    </a:p>
                  </a:txBody>
                  <a:tcPr marL="109728" marR="109728" marT="54864" marB="54864" anchor="ctr">
                    <a:solidFill>
                      <a:srgbClr val="FFFFFF"/>
                    </a:solidFill>
                  </a:tcPr>
                </a:tc>
                <a:tc>
                  <a:txBody>
                    <a:bodyPr wrap="square"/>
                    <a:lstStyle/>
                    <a:p>
                      <a:r>
                        <a:rPr sz="950" b="0">
                          <a:solidFill>
                            <a:srgbClr val="05022A"/>
                          </a:solidFill>
                          <a:latin typeface="Google Sans"/>
                        </a:rPr>
                        <a:t>Rakesh Shah (DT Manager), Yashwant Mahadik (Tax Head)</a:t>
                      </a:r>
                    </a:p>
                  </a:txBody>
                  <a:tcPr marL="109728" marR="109728" marT="54864" marB="54864" anchor="ctr">
                    <a:solidFill>
                      <a:srgbClr val="FFFFFF"/>
                    </a:solidFill>
                  </a:tcPr>
                </a:tc>
              </a:tr>
              <a:tr h="419792">
                <a:tc>
                  <a:txBody>
                    <a:bodyPr wrap="square"/>
                    <a:lstStyle/>
                    <a:p>
                      <a:r>
                        <a:rPr sz="950" b="0">
                          <a:solidFill>
                            <a:srgbClr val="05022A"/>
                          </a:solidFill>
                          <a:latin typeface="Google Sans"/>
                        </a:rPr>
                        <a:t>Alkem Labs</a:t>
                      </a:r>
                    </a:p>
                  </a:txBody>
                  <a:tcPr marL="109728" marR="109728" marT="54864" marB="54864" anchor="ctr">
                    <a:solidFill>
                      <a:srgbClr val="F7F7FA"/>
                    </a:solidFill>
                  </a:tcPr>
                </a:tc>
                <a:tc>
                  <a:txBody>
                    <a:bodyPr wrap="square"/>
                    <a:lstStyle/>
                    <a:p>
                      <a:r>
                        <a:rPr sz="950" b="0">
                          <a:solidFill>
                            <a:srgbClr val="05022A"/>
                          </a:solidFill>
                          <a:latin typeface="Google Sans"/>
                        </a:rPr>
                        <a:t>Abhay Ruia (VP Finance), Yash Kadam (DM Taxation)</a:t>
                      </a:r>
                    </a:p>
                  </a:txBody>
                  <a:tcPr marL="109728" marR="109728" marT="54864" marB="54864" anchor="ctr">
                    <a:solidFill>
                      <a:srgbClr val="F7F7FA"/>
                    </a:solidFill>
                  </a:tcPr>
                </a:tc>
              </a:tr>
              <a:tr h="419792">
                <a:tc>
                  <a:txBody>
                    <a:bodyPr wrap="square"/>
                    <a:lstStyle/>
                    <a:p>
                      <a:r>
                        <a:rPr sz="950" b="0">
                          <a:solidFill>
                            <a:srgbClr val="05022A"/>
                          </a:solidFill>
                          <a:latin typeface="Google Sans"/>
                        </a:rPr>
                        <a:t>Eaton Technologies Pvt. Ltd.</a:t>
                      </a:r>
                    </a:p>
                  </a:txBody>
                  <a:tcPr marL="109728" marR="109728" marT="54864" marB="54864" anchor="ctr">
                    <a:solidFill>
                      <a:srgbClr val="FFFFFF"/>
                    </a:solidFill>
                  </a:tcPr>
                </a:tc>
                <a:tc>
                  <a:txBody>
                    <a:bodyPr wrap="square"/>
                    <a:lstStyle/>
                    <a:p>
                      <a:r>
                        <a:rPr sz="950" b="0">
                          <a:solidFill>
                            <a:srgbClr val="05022A"/>
                          </a:solidFill>
                          <a:latin typeface="Google Sans"/>
                        </a:rPr>
                        <a:t>Senior Manager</a:t>
                      </a:r>
                    </a:p>
                  </a:txBody>
                  <a:tcPr marL="109728" marR="109728" marT="54864" marB="54864" anchor="ctr">
                    <a:solidFill>
                      <a:srgbClr val="FFFFFF"/>
                    </a:solidFill>
                  </a:tcPr>
                </a:tc>
              </a:tr>
              <a:tr h="419792">
                <a:tc>
                  <a:txBody>
                    <a:bodyPr wrap="square"/>
                    <a:lstStyle/>
                    <a:p>
                      <a:r>
                        <a:rPr sz="950" b="0">
                          <a:solidFill>
                            <a:srgbClr val="05022A"/>
                          </a:solidFill>
                          <a:latin typeface="Google Sans"/>
                        </a:rPr>
                        <a:t>Alpex Solar Ltd</a:t>
                      </a:r>
                    </a:p>
                  </a:txBody>
                  <a:tcPr marL="109728" marR="109728" marT="54864" marB="54864" anchor="ctr">
                    <a:solidFill>
                      <a:srgbClr val="F7F7FA"/>
                    </a:solidFill>
                  </a:tcPr>
                </a:tc>
                <a:tc>
                  <a:txBody>
                    <a:bodyPr wrap="square"/>
                    <a:lstStyle/>
                    <a:p>
                      <a:r>
                        <a:rPr sz="950" b="0">
                          <a:solidFill>
                            <a:srgbClr val="05022A"/>
                          </a:solidFill>
                          <a:latin typeface="Google Sans"/>
                        </a:rPr>
                        <a:t>Rahul Mehrotra (GM - Accounts and Finance)</a:t>
                      </a:r>
                    </a:p>
                  </a:txBody>
                  <a:tcPr marL="109728" marR="109728" marT="54864" marB="54864" anchor="ctr">
                    <a:solidFill>
                      <a:srgbClr val="F7F7FA"/>
                    </a:solidFill>
                  </a:tcPr>
                </a:tc>
              </a:tr>
              <a:tr h="419792">
                <a:tc>
                  <a:txBody>
                    <a:bodyPr wrap="square"/>
                    <a:lstStyle/>
                    <a:p>
                      <a:r>
                        <a:rPr sz="950" b="0">
                          <a:solidFill>
                            <a:srgbClr val="05022A"/>
                          </a:solidFill>
                          <a:latin typeface="Google Sans"/>
                        </a:rPr>
                        <a:t>Aditya Birla Insurance Brokers Ltd</a:t>
                      </a:r>
                    </a:p>
                  </a:txBody>
                  <a:tcPr marL="109728" marR="109728" marT="54864" marB="54864" anchor="ctr">
                    <a:solidFill>
                      <a:srgbClr val="FFFFFF"/>
                    </a:solidFill>
                  </a:tcPr>
                </a:tc>
                <a:tc>
                  <a:txBody>
                    <a:bodyPr wrap="square"/>
                    <a:lstStyle/>
                    <a:p>
                      <a:r>
                        <a:rPr sz="950" b="0">
                          <a:solidFill>
                            <a:srgbClr val="05022A"/>
                          </a:solidFill>
                          <a:latin typeface="Google Sans"/>
                        </a:rPr>
                        <a:t>Yogesh Jadhav, Senior Manager (Finance/Taxation)</a:t>
                      </a:r>
                    </a:p>
                  </a:txBody>
                  <a:tcPr marL="109728" marR="109728" marT="54864" marB="54864" anchor="ctr">
                    <a:solidFill>
                      <a:srgbClr val="FFFFFF"/>
                    </a:solidFill>
                  </a:tcPr>
                </a:tc>
              </a:tr>
              <a:tr h="419792">
                <a:tc>
                  <a:txBody>
                    <a:bodyPr wrap="square"/>
                    <a:lstStyle/>
                    <a:p>
                      <a:r>
                        <a:rPr sz="950" b="0">
                          <a:solidFill>
                            <a:srgbClr val="05022A"/>
                          </a:solidFill>
                          <a:latin typeface="Google Sans"/>
                        </a:rPr>
                        <a:t>Leadership Boulevard Pvt Ltd</a:t>
                      </a:r>
                    </a:p>
                  </a:txBody>
                  <a:tcPr marL="109728" marR="109728" marT="54864" marB="54864" anchor="ctr">
                    <a:solidFill>
                      <a:srgbClr val="F7F7FA"/>
                    </a:solidFill>
                  </a:tcPr>
                </a:tc>
                <a:tc>
                  <a:txBody>
                    <a:bodyPr wrap="square"/>
                    <a:lstStyle/>
                    <a:p>
                      <a:r>
                        <a:rPr sz="950" b="0">
                          <a:solidFill>
                            <a:srgbClr val="05022A"/>
                          </a:solidFill>
                          <a:latin typeface="Google Sans"/>
                        </a:rPr>
                        <a:t>Pratik Shah - AP &amp; Tax Head, Ayush Shah - Manager Taxation</a:t>
                      </a:r>
                    </a:p>
                  </a:txBody>
                  <a:tcPr marL="109728" marR="109728" marT="54864" marB="54864" anchor="ctr">
                    <a:solidFill>
                      <a:srgbClr val="F7F7FA"/>
                    </a:solidFill>
                  </a:tcPr>
                </a:tc>
              </a:tr>
              <a:tr h="419792">
                <a:tc>
                  <a:txBody>
                    <a:bodyPr wrap="square"/>
                    <a:lstStyle/>
                    <a:p>
                      <a:r>
                        <a:rPr sz="950" b="0">
                          <a:solidFill>
                            <a:srgbClr val="05022A"/>
                          </a:solidFill>
                          <a:latin typeface="Google Sans"/>
                        </a:rPr>
                        <a:t>Zepto</a:t>
                      </a:r>
                    </a:p>
                  </a:txBody>
                  <a:tcPr marL="109728" marR="109728" marT="54864" marB="54864" anchor="ctr">
                    <a:solidFill>
                      <a:srgbClr val="FFFFFF"/>
                    </a:solidFill>
                  </a:tcPr>
                </a:tc>
                <a:tc>
                  <a:txBody>
                    <a:bodyPr wrap="square"/>
                    <a:lstStyle/>
                    <a:p>
                      <a:r>
                        <a:rPr sz="950" b="0">
                          <a:solidFill>
                            <a:srgbClr val="05022A"/>
                          </a:solidFill>
                          <a:latin typeface="Google Sans"/>
                        </a:rPr>
                        <a:t>Radhika Poojari (Tax Manager), Sukesh Shetty (Tax Head)</a:t>
                      </a:r>
                    </a:p>
                  </a:txBody>
                  <a:tcPr marL="109728" marR="109728" marT="54864" marB="54864" anchor="ctr">
                    <a:solidFill>
                      <a:srgbClr val="FFFFFF"/>
                    </a:solidFill>
                  </a:tcPr>
                </a:tc>
              </a:tr>
              <a:tr h="419800">
                <a:tc>
                  <a:txBody>
                    <a:bodyPr wrap="square"/>
                    <a:lstStyle/>
                    <a:p>
                      <a:r>
                        <a:rPr sz="950" b="0">
                          <a:solidFill>
                            <a:srgbClr val="05022A"/>
                          </a:solidFill>
                          <a:latin typeface="Google Sans"/>
                        </a:rPr>
                        <a:t>ShareChat</a:t>
                      </a:r>
                    </a:p>
                  </a:txBody>
                  <a:tcPr marL="109728" marR="109728" marT="54864" marB="54864" anchor="ctr">
                    <a:solidFill>
                      <a:srgbClr val="F7F7FA"/>
                    </a:solidFill>
                  </a:tcPr>
                </a:tc>
                <a:tc>
                  <a:txBody>
                    <a:bodyPr wrap="square"/>
                    <a:lstStyle/>
                    <a:p>
                      <a:r>
                        <a:rPr sz="950" b="0">
                          <a:solidFill>
                            <a:srgbClr val="05022A"/>
                          </a:solidFill>
                          <a:latin typeface="Google Sans"/>
                        </a:rPr>
                        <a:t>Kirti Sharma - Tax Lead</a:t>
                      </a:r>
                    </a:p>
                  </a:txBody>
                  <a:tcPr marL="109728" marR="109728" marT="54864" marB="54864" anchor="ctr">
                    <a:solidFill>
                      <a:srgbClr val="F7F7FA"/>
                    </a:solidFill>
                  </a:tcPr>
                </a:tc>
              </a:tr>
            </a:tbl>
          </a:graphicData>
        </a:graphic>
      </p:graphicFrame>
      <p:graphicFrame>
        <p:nvGraphicFramePr>
          <p:cNvPr id="13" name="Table 6"/>
          <p:cNvGraphicFramePr>
            <a:graphicFrameLocks noGrp="1"/>
          </p:cNvGraphicFramePr>
          <p:nvPr/>
        </p:nvGraphicFramePr>
        <p:xfrm>
          <a:off x="6255867" y="1874519"/>
          <a:ext cx="5250027" cy="4617720"/>
        </p:xfrm>
        <a:graphic>
          <a:graphicData uri="http://schemas.openxmlformats.org/drawingml/2006/table">
            <a:tbl>
              <a:tblPr firstRow="1" bandRow="1">
                <a:tableStyleId>{5C22544A-7EE6-4342-B048-85BDC9FD1C3A}</a:tableStyleId>
              </a:tblPr>
              <a:tblGrid>
                <a:gridCol w="2331720"/>
                <a:gridCol w="2918307"/>
              </a:tblGrid>
              <a:tr h="419792">
                <a:tc>
                  <a:txBody>
                    <a:bodyPr wrap="square"/>
                    <a:lstStyle/>
                    <a:p>
                      <a:r>
                        <a:rPr sz="1100" b="1">
                          <a:solidFill>
                            <a:srgbClr val="FFFFFF"/>
                          </a:solidFill>
                          <a:latin typeface="Google Sans"/>
                        </a:rPr>
                        <a:t>Company</a:t>
                      </a:r>
                    </a:p>
                  </a:txBody>
                  <a:tcPr marL="109728" marR="109728" marT="54864" marB="54864" anchor="ctr">
                    <a:solidFill>
                      <a:srgbClr val="5446FF"/>
                    </a:solidFill>
                  </a:tcPr>
                </a:tc>
                <a:tc>
                  <a:txBody>
                    <a:bodyPr wrap="square"/>
                    <a:lstStyle/>
                    <a:p>
                      <a:r>
                        <a:rPr sz="1100" b="1">
                          <a:solidFill>
                            <a:srgbClr val="FFFFFF"/>
                          </a:solidFill>
                          <a:latin typeface="Google Sans"/>
                        </a:rPr>
                        <a:t>Customer</a:t>
                      </a:r>
                    </a:p>
                  </a:txBody>
                  <a:tcPr marL="109728" marR="109728" marT="54864" marB="54864" anchor="ctr">
                    <a:solidFill>
                      <a:srgbClr val="5446FF"/>
                    </a:solidFill>
                  </a:tcPr>
                </a:tc>
              </a:tr>
              <a:tr h="419792">
                <a:tc>
                  <a:txBody>
                    <a:bodyPr wrap="square"/>
                    <a:lstStyle/>
                    <a:p>
                      <a:r>
                        <a:rPr sz="950" b="0">
                          <a:solidFill>
                            <a:srgbClr val="05022A"/>
                          </a:solidFill>
                          <a:latin typeface="Google Sans"/>
                        </a:rPr>
                        <a:t>Indian Oil Total Private Limited</a:t>
                      </a:r>
                    </a:p>
                  </a:txBody>
                  <a:tcPr marL="109728" marR="109728" marT="54864" marB="54864" anchor="ctr">
                    <a:solidFill>
                      <a:srgbClr val="FFFFFF"/>
                    </a:solidFill>
                  </a:tcPr>
                </a:tc>
                <a:tc>
                  <a:txBody>
                    <a:bodyPr wrap="square"/>
                    <a:lstStyle/>
                    <a:p>
                      <a:r>
                        <a:rPr sz="950" b="0">
                          <a:solidFill>
                            <a:srgbClr val="05022A"/>
                          </a:solidFill>
                          <a:latin typeface="Google Sans"/>
                        </a:rPr>
                        <a:t>Satish Bhamare (Deputy Manager - Finance &amp; Accounts)</a:t>
                      </a:r>
                    </a:p>
                  </a:txBody>
                  <a:tcPr marL="109728" marR="109728" marT="54864" marB="54864" anchor="ctr">
                    <a:solidFill>
                      <a:srgbClr val="FFFFFF"/>
                    </a:solidFill>
                  </a:tcPr>
                </a:tc>
              </a:tr>
              <a:tr h="419792">
                <a:tc>
                  <a:txBody>
                    <a:bodyPr wrap="square"/>
                    <a:lstStyle/>
                    <a:p>
                      <a:r>
                        <a:rPr sz="950" b="0">
                          <a:solidFill>
                            <a:srgbClr val="05022A"/>
                          </a:solidFill>
                          <a:latin typeface="Google Sans"/>
                        </a:rPr>
                        <a:t>Nandan Petrochem Ltd</a:t>
                      </a:r>
                    </a:p>
                  </a:txBody>
                  <a:tcPr marL="109728" marR="109728" marT="54864" marB="54864" anchor="ctr">
                    <a:solidFill>
                      <a:srgbClr val="F7F7FA"/>
                    </a:solidFill>
                  </a:tcPr>
                </a:tc>
                <a:tc>
                  <a:txBody>
                    <a:bodyPr wrap="square"/>
                    <a:lstStyle/>
                    <a:p>
                      <a:r>
                        <a:rPr sz="950" b="0">
                          <a:solidFill>
                            <a:srgbClr val="05022A"/>
                          </a:solidFill>
                          <a:latin typeface="Google Sans"/>
                        </a:rPr>
                        <a:t>Amit Jain (Tax Head)</a:t>
                      </a:r>
                    </a:p>
                  </a:txBody>
                  <a:tcPr marL="109728" marR="109728" marT="54864" marB="54864" anchor="ctr">
                    <a:solidFill>
                      <a:srgbClr val="F7F7FA"/>
                    </a:solidFill>
                  </a:tcPr>
                </a:tc>
              </a:tr>
              <a:tr h="419792">
                <a:tc>
                  <a:txBody>
                    <a:bodyPr wrap="square"/>
                    <a:lstStyle/>
                    <a:p>
                      <a:r>
                        <a:rPr sz="950" b="0">
                          <a:solidFill>
                            <a:srgbClr val="05022A"/>
                          </a:solidFill>
                          <a:latin typeface="Google Sans"/>
                        </a:rPr>
                        <a:t>Cars 24 Private Limited</a:t>
                      </a:r>
                    </a:p>
                  </a:txBody>
                  <a:tcPr marL="109728" marR="109728" marT="54864" marB="54864" anchor="ctr">
                    <a:solidFill>
                      <a:srgbClr val="FFFFFF"/>
                    </a:solidFill>
                  </a:tcPr>
                </a:tc>
                <a:tc>
                  <a:txBody>
                    <a:bodyPr wrap="square"/>
                    <a:lstStyle/>
                    <a:p>
                      <a:r>
                        <a:rPr sz="950" b="0">
                          <a:solidFill>
                            <a:srgbClr val="05022A"/>
                          </a:solidFill>
                          <a:latin typeface="Google Sans"/>
                        </a:rPr>
                        <a:t>Shaina Ahuja - IDT Manager</a:t>
                      </a:r>
                    </a:p>
                  </a:txBody>
                  <a:tcPr marL="109728" marR="109728" marT="54864" marB="54864" anchor="ctr">
                    <a:solidFill>
                      <a:srgbClr val="FFFFFF"/>
                    </a:solidFill>
                  </a:tcPr>
                </a:tc>
              </a:tr>
              <a:tr h="419792">
                <a:tc>
                  <a:txBody>
                    <a:bodyPr wrap="square"/>
                    <a:lstStyle/>
                    <a:p>
                      <a:r>
                        <a:rPr sz="950" b="0">
                          <a:solidFill>
                            <a:srgbClr val="05022A"/>
                          </a:solidFill>
                          <a:latin typeface="Google Sans"/>
                        </a:rPr>
                        <a:t>Metso India Pvt. Ltd.</a:t>
                      </a:r>
                    </a:p>
                  </a:txBody>
                  <a:tcPr marL="109728" marR="109728" marT="54864" marB="54864" anchor="ctr">
                    <a:solidFill>
                      <a:srgbClr val="F7F7FA"/>
                    </a:solidFill>
                  </a:tcPr>
                </a:tc>
                <a:tc>
                  <a:txBody>
                    <a:bodyPr wrap="square"/>
                    <a:lstStyle/>
                    <a:p>
                      <a:r>
                        <a:rPr sz="950" b="0">
                          <a:solidFill>
                            <a:srgbClr val="05022A"/>
                          </a:solidFill>
                          <a:latin typeface="Google Sans"/>
                        </a:rPr>
                        <a:t>Komal Saini (Taxation)</a:t>
                      </a:r>
                    </a:p>
                  </a:txBody>
                  <a:tcPr marL="109728" marR="109728" marT="54864" marB="54864" anchor="ctr">
                    <a:solidFill>
                      <a:srgbClr val="F7F7FA"/>
                    </a:solidFill>
                  </a:tcPr>
                </a:tc>
              </a:tr>
              <a:tr h="419792">
                <a:tc>
                  <a:txBody>
                    <a:bodyPr wrap="square"/>
                    <a:lstStyle/>
                    <a:p>
                      <a:r>
                        <a:rPr sz="950" b="0">
                          <a:solidFill>
                            <a:srgbClr val="05022A"/>
                          </a:solidFill>
                          <a:latin typeface="Google Sans"/>
                        </a:rPr>
                        <a:t>Xiaomi Technology</a:t>
                      </a:r>
                    </a:p>
                  </a:txBody>
                  <a:tcPr marL="109728" marR="109728" marT="54864" marB="54864" anchor="ctr">
                    <a:solidFill>
                      <a:srgbClr val="FFFFFF"/>
                    </a:solidFill>
                  </a:tcPr>
                </a:tc>
                <a:tc>
                  <a:txBody>
                    <a:bodyPr wrap="square"/>
                    <a:lstStyle/>
                    <a:p>
                      <a:r>
                        <a:rPr sz="950" b="0">
                          <a:solidFill>
                            <a:srgbClr val="05022A"/>
                          </a:solidFill>
                          <a:latin typeface="Google Sans"/>
                        </a:rPr>
                        <a:t>Ruchika Goyal - Compliance Lead</a:t>
                      </a:r>
                    </a:p>
                  </a:txBody>
                  <a:tcPr marL="109728" marR="109728" marT="54864" marB="54864" anchor="ctr">
                    <a:solidFill>
                      <a:srgbClr val="FFFFFF"/>
                    </a:solidFill>
                  </a:tcPr>
                </a:tc>
              </a:tr>
              <a:tr h="419792">
                <a:tc>
                  <a:txBody>
                    <a:bodyPr wrap="square"/>
                    <a:lstStyle/>
                    <a:p>
                      <a:r>
                        <a:rPr sz="950" b="0">
                          <a:solidFill>
                            <a:srgbClr val="05022A"/>
                          </a:solidFill>
                          <a:latin typeface="Google Sans"/>
                        </a:rPr>
                        <a:t>Indian Health Organisation</a:t>
                      </a:r>
                    </a:p>
                  </a:txBody>
                  <a:tcPr marL="109728" marR="109728" marT="54864" marB="54864" anchor="ctr">
                    <a:solidFill>
                      <a:srgbClr val="F7F7FA"/>
                    </a:solidFill>
                  </a:tcPr>
                </a:tc>
                <a:tc>
                  <a:txBody>
                    <a:bodyPr wrap="square"/>
                    <a:lstStyle/>
                    <a:p>
                      <a:r>
                        <a:rPr sz="950" b="0">
                          <a:solidFill>
                            <a:srgbClr val="05022A"/>
                          </a:solidFill>
                          <a:latin typeface="Google Sans"/>
                        </a:rPr>
                        <a:t>Aakash Goyal</a:t>
                      </a:r>
                    </a:p>
                  </a:txBody>
                  <a:tcPr marL="109728" marR="109728" marT="54864" marB="54864" anchor="ctr">
                    <a:solidFill>
                      <a:srgbClr val="F7F7FA"/>
                    </a:solidFill>
                  </a:tcPr>
                </a:tc>
              </a:tr>
              <a:tr h="419792">
                <a:tc>
                  <a:txBody>
                    <a:bodyPr wrap="square"/>
                    <a:lstStyle/>
                    <a:p>
                      <a:r>
                        <a:rPr sz="950" b="0">
                          <a:solidFill>
                            <a:srgbClr val="05022A"/>
                          </a:solidFill>
                          <a:latin typeface="Google Sans"/>
                        </a:rPr>
                        <a:t>Eureka</a:t>
                      </a:r>
                    </a:p>
                  </a:txBody>
                  <a:tcPr marL="109728" marR="109728" marT="54864" marB="54864" anchor="ctr">
                    <a:solidFill>
                      <a:srgbClr val="FFFFFF"/>
                    </a:solidFill>
                  </a:tcPr>
                </a:tc>
                <a:tc>
                  <a:txBody>
                    <a:bodyPr wrap="square"/>
                    <a:lstStyle/>
                    <a:p>
                      <a:r>
                        <a:rPr sz="950" b="0">
                          <a:solidFill>
                            <a:srgbClr val="05022A"/>
                          </a:solidFill>
                          <a:latin typeface="Google Sans"/>
                        </a:rPr>
                        <a:t>Nilesh Jeurkar - Tax Head</a:t>
                      </a:r>
                    </a:p>
                  </a:txBody>
                  <a:tcPr marL="109728" marR="109728" marT="54864" marB="54864" anchor="ctr">
                    <a:solidFill>
                      <a:srgbClr val="FFFFFF"/>
                    </a:solidFill>
                  </a:tcPr>
                </a:tc>
              </a:tr>
              <a:tr h="419792">
                <a:tc>
                  <a:txBody>
                    <a:bodyPr wrap="square"/>
                    <a:lstStyle/>
                    <a:p>
                      <a:r>
                        <a:rPr sz="950" b="0">
                          <a:solidFill>
                            <a:srgbClr val="05022A"/>
                          </a:solidFill>
                          <a:latin typeface="Google Sans"/>
                        </a:rPr>
                        <a:t>Proconnect Logistics</a:t>
                      </a:r>
                    </a:p>
                  </a:txBody>
                  <a:tcPr marL="109728" marR="109728" marT="54864" marB="54864" anchor="ctr">
                    <a:solidFill>
                      <a:srgbClr val="F7F7FA"/>
                    </a:solidFill>
                  </a:tcPr>
                </a:tc>
                <a:tc>
                  <a:txBody>
                    <a:bodyPr wrap="square"/>
                    <a:lstStyle/>
                    <a:p>
                      <a:r>
                        <a:rPr sz="950" b="0">
                          <a:solidFill>
                            <a:srgbClr val="05022A"/>
                          </a:solidFill>
                          <a:latin typeface="Google Sans"/>
                        </a:rPr>
                        <a:t>Padmapriya Sabesan</a:t>
                      </a:r>
                    </a:p>
                  </a:txBody>
                  <a:tcPr marL="109728" marR="109728" marT="54864" marB="54864" anchor="ctr">
                    <a:solidFill>
                      <a:srgbClr val="F7F7FA"/>
                    </a:solidFill>
                  </a:tcPr>
                </a:tc>
              </a:tr>
              <a:tr h="419792">
                <a:tc>
                  <a:txBody>
                    <a:bodyPr wrap="square"/>
                    <a:lstStyle/>
                    <a:p>
                      <a:r>
                        <a:rPr sz="950" b="0">
                          <a:solidFill>
                            <a:srgbClr val="05022A"/>
                          </a:solidFill>
                          <a:latin typeface="Google Sans"/>
                        </a:rPr>
                        <a:t>Schoolnet</a:t>
                      </a:r>
                    </a:p>
                  </a:txBody>
                  <a:tcPr marL="109728" marR="109728" marT="54864" marB="54864" anchor="ctr">
                    <a:solidFill>
                      <a:srgbClr val="FFFFFF"/>
                    </a:solidFill>
                  </a:tcPr>
                </a:tc>
                <a:tc>
                  <a:txBody>
                    <a:bodyPr wrap="square"/>
                    <a:lstStyle/>
                    <a:p>
                      <a:r>
                        <a:rPr sz="950" b="0">
                          <a:solidFill>
                            <a:srgbClr val="05022A"/>
                          </a:solidFill>
                          <a:latin typeface="Google Sans"/>
                        </a:rPr>
                        <a:t>Kailash Chandra Singh (Senior Manager)</a:t>
                      </a:r>
                    </a:p>
                  </a:txBody>
                  <a:tcPr marL="109728" marR="109728" marT="54864" marB="54864" anchor="ctr">
                    <a:solidFill>
                      <a:srgbClr val="FFFFFF"/>
                    </a:solidFill>
                  </a:tcPr>
                </a:tc>
              </a:tr>
              <a:tr h="419800">
                <a:tc>
                  <a:txBody>
                    <a:bodyPr wrap="square"/>
                    <a:lstStyle/>
                    <a:p>
                      <a:r>
                        <a:rPr sz="950" b="0">
                          <a:solidFill>
                            <a:srgbClr val="05022A"/>
                          </a:solidFill>
                          <a:latin typeface="Google Sans"/>
                        </a:rPr>
                        <a:t>Baxy Limited</a:t>
                      </a:r>
                    </a:p>
                  </a:txBody>
                  <a:tcPr marL="109728" marR="109728" marT="54864" marB="54864" anchor="ctr">
                    <a:solidFill>
                      <a:srgbClr val="F7F7FA"/>
                    </a:solidFill>
                  </a:tcPr>
                </a:tc>
                <a:tc>
                  <a:txBody>
                    <a:bodyPr wrap="square"/>
                    <a:lstStyle/>
                    <a:p>
                      <a:r>
                        <a:rPr sz="950" b="0">
                          <a:solidFill>
                            <a:srgbClr val="05022A"/>
                          </a:solidFill>
                          <a:latin typeface="Google Sans"/>
                        </a:rPr>
                        <a:t>Varsha Chaturvedi (Tax Head)</a:t>
                      </a:r>
                    </a:p>
                  </a:txBody>
                  <a:tcPr marL="109728" marR="109728" marT="54864" marB="54864" anchor="ctr">
                    <a:solidFill>
                      <a:srgbClr val="F7F7FA"/>
                    </a:solidFill>
                  </a:tcPr>
                </a:tc>
              </a:tr>
            </a:tbl>
          </a:graphicData>
        </a:graphic>
      </p:graphicFrame>
      <p:sp>
        <p:nvSpPr>
          <p:cNvPr id="14" name="TextBox 7"/>
          <p:cNvSpPr txBox="1"/>
          <p:nvPr/>
        </p:nvSpPr>
        <p:spPr>
          <a:xfrm>
            <a:off x="685800" y="6473952"/>
            <a:ext cx="5486400" cy="274320"/>
          </a:xfrm>
          <a:prstGeom prst="rect">
            <a:avLst/>
          </a:prstGeom>
          <a:noFill/>
        </p:spPr>
        <p:txBody>
          <a:bodyPr wrap="square" anchor="t" lIns="0" rIns="0" tIns="0" bIns="0">
            <a:spAutoFit/>
          </a:bodyPr>
          <a:lstStyle/>
          <a:p>
            <a:pPr algn="l"/>
            <a:r>
              <a:rPr sz="950" b="0" i="0">
                <a:solidFill>
                  <a:srgbClr val="8D8D9A"/>
                </a:solidFill>
                <a:latin typeface="Google Sans"/>
              </a:rPr>
              <a:t>cleartax  ·  Forward AI Workshop</a:t>
            </a:r>
          </a:p>
        </p:txBody>
      </p:sp>
      <p:sp>
        <p:nvSpPr>
          <p:cNvPr id="15" name="TextBox 8"/>
          <p:cNvSpPr txBox="1"/>
          <p:nvPr/>
        </p:nvSpPr>
        <p:spPr>
          <a:xfrm>
            <a:off x="10591495" y="6473952"/>
            <a:ext cx="914400" cy="274320"/>
          </a:xfrm>
          <a:prstGeom prst="rect">
            <a:avLst/>
          </a:prstGeom>
          <a:noFill/>
        </p:spPr>
        <p:txBody>
          <a:bodyPr wrap="square" anchor="t" lIns="0" rIns="0" tIns="0" bIns="0">
            <a:spAutoFit/>
          </a:bodyPr>
          <a:lstStyle/>
          <a:p>
            <a:pPr algn="r"/>
            <a:r>
              <a:rPr sz="950" b="0" i="0">
                <a:solidFill>
                  <a:srgbClr val="8D8D9A"/>
                </a:solidFill>
                <a:latin typeface="Google Sans"/>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2"/>
          <p:cNvSpPr txBox="1"/>
          <p:nvPr/>
        </p:nvSpPr>
        <p:spPr>
          <a:xfrm>
            <a:off x="685800" y="502920"/>
            <a:ext cx="8229600" cy="320040"/>
          </a:xfrm>
          <a:prstGeom prst="rect">
            <a:avLst/>
          </a:prstGeom>
          <a:noFill/>
        </p:spPr>
        <p:txBody>
          <a:bodyPr wrap="square" anchor="t" lIns="0" rIns="0" tIns="0" bIns="0">
            <a:spAutoFit/>
          </a:bodyPr>
          <a:lstStyle/>
          <a:p>
            <a:pPr algn="l"/>
            <a:r>
              <a:rPr sz="1200" b="1" i="0">
                <a:solidFill>
                  <a:srgbClr val="05022A"/>
                </a:solidFill>
                <a:latin typeface="Google Sans"/>
              </a:rPr>
              <a:t>S P E C I A L   M E N T I O N S</a:t>
            </a:r>
          </a:p>
        </p:txBody>
      </p:sp>
      <p:pic>
        <p:nvPicPr>
          <p:cNvPr id="18" name="Picture 3" descr="Cleartax-logo-black.png"/>
          <p:cNvPicPr>
            <a:picLocks noChangeAspect="1"/>
          </p:cNvPicPr>
          <p:nvPr/>
        </p:nvPicPr>
        <p:blipFill>
          <a:blip r:embed="rId2"/>
          <a:stretch>
            <a:fillRect/>
          </a:stretch>
        </p:blipFill>
        <p:spPr>
          <a:xfrm>
            <a:off x="10454335" y="502920"/>
            <a:ext cx="1051560" cy="239141"/>
          </a:xfrm>
          <a:prstGeom prst="rect">
            <a:avLst/>
          </a:prstGeom>
        </p:spPr>
      </p:pic>
      <p:graphicFrame>
        <p:nvGraphicFramePr>
          <p:cNvPr id="19" name="Table 4"/>
          <p:cNvGraphicFramePr>
            <a:graphicFrameLocks noGrp="1"/>
          </p:cNvGraphicFramePr>
          <p:nvPr/>
        </p:nvGraphicFramePr>
        <p:xfrm>
          <a:off x="685800" y="2103120"/>
          <a:ext cx="10820095" cy="2103120"/>
        </p:xfrm>
        <a:graphic>
          <a:graphicData uri="http://schemas.openxmlformats.org/drawingml/2006/table">
            <a:tbl>
              <a:tblPr firstRow="1" bandRow="1">
                <a:tableStyleId>{5C22544A-7EE6-4342-B048-85BDC9FD1C3A}</a:tableStyleId>
              </a:tblPr>
              <a:tblGrid>
                <a:gridCol w="3657600"/>
                <a:gridCol w="5029200"/>
                <a:gridCol w="2133295"/>
              </a:tblGrid>
              <a:tr h="525780">
                <a:tc>
                  <a:txBody>
                    <a:bodyPr wrap="square"/>
                    <a:lstStyle/>
                    <a:p>
                      <a:r>
                        <a:rPr sz="1300" b="1">
                          <a:solidFill>
                            <a:srgbClr val="FFFFFF"/>
                          </a:solidFill>
                          <a:latin typeface="Google Sans"/>
                        </a:rPr>
                        <a:t>Company</a:t>
                      </a:r>
                    </a:p>
                  </a:txBody>
                  <a:tcPr marL="109728" marR="109728" marT="54864" marB="54864" anchor="ctr">
                    <a:solidFill>
                      <a:srgbClr val="5446FF"/>
                    </a:solidFill>
                  </a:tcPr>
                </a:tc>
                <a:tc>
                  <a:txBody>
                    <a:bodyPr wrap="square"/>
                    <a:lstStyle/>
                    <a:p>
                      <a:r>
                        <a:rPr sz="1300" b="1">
                          <a:solidFill>
                            <a:srgbClr val="FFFFFF"/>
                          </a:solidFill>
                          <a:latin typeface="Google Sans"/>
                        </a:rPr>
                        <a:t>Customer</a:t>
                      </a:r>
                    </a:p>
                  </a:txBody>
                  <a:tcPr marL="109728" marR="109728" marT="54864" marB="54864" anchor="ctr">
                    <a:solidFill>
                      <a:srgbClr val="5446FF"/>
                    </a:solidFill>
                  </a:tcPr>
                </a:tc>
                <a:tc>
                  <a:txBody>
                    <a:bodyPr wrap="square"/>
                    <a:lstStyle/>
                    <a:p>
                      <a:r>
                        <a:rPr sz="1300" b="1">
                          <a:solidFill>
                            <a:srgbClr val="FFFFFF"/>
                          </a:solidFill>
                          <a:latin typeface="Google Sans"/>
                        </a:rPr>
                        <a:t>CSM</a:t>
                      </a:r>
                    </a:p>
                  </a:txBody>
                  <a:tcPr marL="109728" marR="109728" marT="54864" marB="54864" anchor="ctr">
                    <a:solidFill>
                      <a:srgbClr val="5446FF"/>
                    </a:solidFill>
                  </a:tcPr>
                </a:tc>
              </a:tr>
              <a:tr h="525780">
                <a:tc>
                  <a:txBody>
                    <a:bodyPr wrap="square"/>
                    <a:lstStyle/>
                    <a:p>
                      <a:r>
                        <a:rPr sz="1300" b="0">
                          <a:solidFill>
                            <a:srgbClr val="05022A"/>
                          </a:solidFill>
                          <a:latin typeface="Google Sans"/>
                        </a:rPr>
                        <a:t>Cars 24 Private Limited</a:t>
                      </a:r>
                    </a:p>
                  </a:txBody>
                  <a:tcPr marL="109728" marR="109728" marT="54864" marB="54864" anchor="ctr">
                    <a:solidFill>
                      <a:srgbClr val="FFFFFF"/>
                    </a:solidFill>
                  </a:tcPr>
                </a:tc>
                <a:tc>
                  <a:txBody>
                    <a:bodyPr wrap="square"/>
                    <a:lstStyle/>
                    <a:p>
                      <a:r>
                        <a:rPr sz="1300" b="0">
                          <a:solidFill>
                            <a:srgbClr val="05022A"/>
                          </a:solidFill>
                          <a:latin typeface="Google Sans"/>
                        </a:rPr>
                        <a:t>Komal Saini (Taxation)</a:t>
                      </a:r>
                    </a:p>
                  </a:txBody>
                  <a:tcPr marL="109728" marR="109728" marT="54864" marB="54864" anchor="ctr">
                    <a:solidFill>
                      <a:srgbClr val="FFFFFF"/>
                    </a:solidFill>
                  </a:tcPr>
                </a:tc>
                <a:tc>
                  <a:txBody>
                    <a:bodyPr wrap="square"/>
                    <a:lstStyle/>
                    <a:p>
                      <a:r>
                        <a:rPr sz="1300" b="0">
                          <a:solidFill>
                            <a:srgbClr val="05022A"/>
                          </a:solidFill>
                          <a:latin typeface="Google Sans"/>
                        </a:rPr>
                        <a:t>Govinda Sharma &amp; Team</a:t>
                      </a:r>
                    </a:p>
                  </a:txBody>
                  <a:tcPr marL="109728" marR="109728" marT="54864" marB="54864" anchor="ctr">
                    <a:solidFill>
                      <a:srgbClr val="FFFFFF"/>
                    </a:solidFill>
                  </a:tcPr>
                </a:tc>
              </a:tr>
              <a:tr h="525780">
                <a:tc>
                  <a:txBody>
                    <a:bodyPr wrap="square"/>
                    <a:lstStyle/>
                    <a:p>
                      <a:r>
                        <a:rPr sz="1300" b="0">
                          <a:solidFill>
                            <a:srgbClr val="05022A"/>
                          </a:solidFill>
                          <a:latin typeface="Google Sans"/>
                        </a:rPr>
                        <a:t>Indian Health Organisation</a:t>
                      </a:r>
                    </a:p>
                  </a:txBody>
                  <a:tcPr marL="109728" marR="109728" marT="54864" marB="54864" anchor="ctr">
                    <a:solidFill>
                      <a:srgbClr val="F7F7FA"/>
                    </a:solidFill>
                  </a:tcPr>
                </a:tc>
                <a:tc>
                  <a:txBody>
                    <a:bodyPr wrap="square"/>
                    <a:lstStyle/>
                    <a:p>
                      <a:r>
                        <a:rPr sz="1300" b="0">
                          <a:solidFill>
                            <a:srgbClr val="05022A"/>
                          </a:solidFill>
                          <a:latin typeface="Google Sans"/>
                        </a:rPr>
                        <a:t>Aakash Goyal</a:t>
                      </a:r>
                    </a:p>
                  </a:txBody>
                  <a:tcPr marL="109728" marR="109728" marT="54864" marB="54864" anchor="ctr">
                    <a:solidFill>
                      <a:srgbClr val="F7F7FA"/>
                    </a:solidFill>
                  </a:tcPr>
                </a:tc>
                <a:tc>
                  <a:txBody>
                    <a:bodyPr wrap="square"/>
                    <a:lstStyle/>
                    <a:p>
                      <a:r>
                        <a:rPr sz="1300" b="0">
                          <a:solidFill>
                            <a:srgbClr val="05022A"/>
                          </a:solidFill>
                          <a:latin typeface="Google Sans"/>
                        </a:rPr>
                        <a:t>Nisha Ladia</a:t>
                      </a:r>
                    </a:p>
                  </a:txBody>
                  <a:tcPr marL="109728" marR="109728" marT="54864" marB="54864" anchor="ctr">
                    <a:solidFill>
                      <a:srgbClr val="F7F7FA"/>
                    </a:solidFill>
                  </a:tcPr>
                </a:tc>
              </a:tr>
              <a:tr h="525780">
                <a:tc>
                  <a:txBody>
                    <a:bodyPr wrap="square"/>
                    <a:lstStyle/>
                    <a:p>
                      <a:r>
                        <a:rPr sz="1300" b="0">
                          <a:solidFill>
                            <a:srgbClr val="05022A"/>
                          </a:solidFill>
                          <a:latin typeface="Google Sans"/>
                        </a:rPr>
                        <a:t>Aditya Birla Insurance Brokers Ltd</a:t>
                      </a:r>
                    </a:p>
                  </a:txBody>
                  <a:tcPr marL="109728" marR="109728" marT="54864" marB="54864" anchor="ctr">
                    <a:solidFill>
                      <a:srgbClr val="FFFFFF"/>
                    </a:solidFill>
                  </a:tcPr>
                </a:tc>
                <a:tc>
                  <a:txBody>
                    <a:bodyPr wrap="square"/>
                    <a:lstStyle/>
                    <a:p>
                      <a:r>
                        <a:rPr sz="1300" b="0">
                          <a:solidFill>
                            <a:srgbClr val="05022A"/>
                          </a:solidFill>
                          <a:latin typeface="Google Sans"/>
                        </a:rPr>
                        <a:t>Yogesh Jadhav, Senior Manager (Finance/Taxation)</a:t>
                      </a:r>
                    </a:p>
                  </a:txBody>
                  <a:tcPr marL="109728" marR="109728" marT="54864" marB="54864" anchor="ctr">
                    <a:solidFill>
                      <a:srgbClr val="FFFFFF"/>
                    </a:solidFill>
                  </a:tcPr>
                </a:tc>
                <a:tc>
                  <a:txBody>
                    <a:bodyPr wrap="square"/>
                    <a:lstStyle/>
                    <a:p>
                      <a:r>
                        <a:rPr sz="1300" b="0">
                          <a:solidFill>
                            <a:srgbClr val="05022A"/>
                          </a:solidFill>
                          <a:latin typeface="Google Sans"/>
                        </a:rPr>
                        <a:t>Vinaya Vaidya</a:t>
                      </a:r>
                    </a:p>
                  </a:txBody>
                  <a:tcPr marL="109728" marR="109728" marT="54864" marB="54864" anchor="ctr">
                    <a:solidFill>
                      <a:srgbClr val="FFFFFF"/>
                    </a:solidFill>
                  </a:tcPr>
                </a:tc>
              </a:tr>
            </a:tbl>
          </a:graphicData>
        </a:graphic>
      </p:graphicFrame>
      <p:sp>
        <p:nvSpPr>
          <p:cNvPr id="20" name="TextBox 5"/>
          <p:cNvSpPr txBox="1"/>
          <p:nvPr/>
        </p:nvSpPr>
        <p:spPr>
          <a:xfrm>
            <a:off x="685800" y="6473952"/>
            <a:ext cx="5486400" cy="274320"/>
          </a:xfrm>
          <a:prstGeom prst="rect">
            <a:avLst/>
          </a:prstGeom>
          <a:noFill/>
        </p:spPr>
        <p:txBody>
          <a:bodyPr wrap="square" anchor="t" lIns="0" rIns="0" tIns="0" bIns="0">
            <a:spAutoFit/>
          </a:bodyPr>
          <a:lstStyle/>
          <a:p>
            <a:pPr algn="l"/>
            <a:r>
              <a:rPr sz="950" b="0" i="0">
                <a:solidFill>
                  <a:srgbClr val="8D8D9A"/>
                </a:solidFill>
                <a:latin typeface="Google Sans"/>
              </a:rPr>
              <a:t>cleartax  ·  Forward AI Workshop</a:t>
            </a:r>
          </a:p>
        </p:txBody>
      </p:sp>
      <p:sp>
        <p:nvSpPr>
          <p:cNvPr id="21" name="TextBox 6"/>
          <p:cNvSpPr txBox="1"/>
          <p:nvPr/>
        </p:nvSpPr>
        <p:spPr>
          <a:xfrm>
            <a:off x="10591495" y="6473952"/>
            <a:ext cx="914400" cy="274320"/>
          </a:xfrm>
          <a:prstGeom prst="rect">
            <a:avLst/>
          </a:prstGeom>
          <a:noFill/>
        </p:spPr>
        <p:txBody>
          <a:bodyPr wrap="square" anchor="t" lIns="0" rIns="0" tIns="0" bIns="0">
            <a:spAutoFit/>
          </a:bodyPr>
          <a:lstStyle/>
          <a:p>
            <a:pPr algn="r"/>
            <a:r>
              <a:rPr sz="950" b="0" i="0">
                <a:solidFill>
                  <a:srgbClr val="8D8D9A"/>
                </a:solidFill>
                <a:latin typeface="Google Sans"/>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 name="Rectangle 1"/>
          <p:cNvSpPr/>
          <p:nvPr/>
        </p:nvSpPr>
        <p:spPr>
          <a:xfrm>
            <a:off x="0" y="0"/>
            <a:ext cx="12191695" cy="6858000"/>
          </a:xfrm>
          <a:prstGeom prst="rect">
            <a:avLst/>
          </a:prstGeom>
          <a:solidFill>
            <a:srgbClr val="050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 descr="dotgrid_dark.png"/>
          <p:cNvPicPr>
            <a:picLocks noChangeAspect="1"/>
          </p:cNvPicPr>
          <p:nvPr/>
        </p:nvPicPr>
        <p:blipFill>
          <a:blip r:embed="rId2"/>
          <a:stretch>
            <a:fillRect/>
          </a:stretch>
        </p:blipFill>
        <p:spPr>
          <a:xfrm>
            <a:off x="8229600" y="0"/>
            <a:ext cx="4023360" cy="6858000"/>
          </a:xfrm>
          <a:prstGeom prst="rect">
            <a:avLst/>
          </a:prstGeom>
        </p:spPr>
      </p:pic>
      <p:pic>
        <p:nvPicPr>
          <p:cNvPr id="24" name="Picture 3" descr="Cleartax-logo-white.png"/>
          <p:cNvPicPr>
            <a:picLocks noChangeAspect="1"/>
          </p:cNvPicPr>
          <p:nvPr/>
        </p:nvPicPr>
        <p:blipFill>
          <a:blip r:embed="rId3"/>
          <a:stretch>
            <a:fillRect/>
          </a:stretch>
        </p:blipFill>
        <p:spPr>
          <a:xfrm>
            <a:off x="10454335" y="502920"/>
            <a:ext cx="1051560" cy="239141"/>
          </a:xfrm>
          <a:prstGeom prst="rect">
            <a:avLst/>
          </a:prstGeom>
        </p:spPr>
      </p:pic>
      <p:sp>
        <p:nvSpPr>
          <p:cNvPr id="25" name="Rounded Rectangle 4"/>
          <p:cNvSpPr/>
          <p:nvPr/>
        </p:nvSpPr>
        <p:spPr>
          <a:xfrm>
            <a:off x="685800" y="502920"/>
            <a:ext cx="1554480" cy="365760"/>
          </a:xfrm>
          <a:prstGeom prst="roundRect">
            <a:avLst>
              <a:gd name="adj" fmla="val 50000"/>
            </a:avLst>
          </a:prstGeom>
          <a:solidFill>
            <a:srgbClr val="C8F0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05022A"/>
                </a:solidFill>
                <a:latin typeface="Google Sans"/>
              </a:rPr>
              <a:t>1ST WINNER</a:t>
            </a:r>
          </a:p>
        </p:txBody>
      </p:sp>
      <p:sp>
        <p:nvSpPr>
          <p:cNvPr id="26" name="TextBox 5"/>
          <p:cNvSpPr txBox="1"/>
          <p:nvPr/>
        </p:nvSpPr>
        <p:spPr>
          <a:xfrm>
            <a:off x="685800" y="1170432"/>
            <a:ext cx="7315200" cy="594360"/>
          </a:xfrm>
          <a:prstGeom prst="rect">
            <a:avLst/>
          </a:prstGeom>
          <a:noFill/>
        </p:spPr>
        <p:txBody>
          <a:bodyPr wrap="square" anchor="t" lIns="0" rIns="0" tIns="0" bIns="0">
            <a:spAutoFit/>
          </a:bodyPr>
          <a:lstStyle/>
          <a:p>
            <a:pPr algn="l"/>
            <a:r>
              <a:rPr sz="2800" b="1" i="0">
                <a:solidFill>
                  <a:srgbClr val="FFFFFF"/>
                </a:solidFill>
                <a:latin typeface="Google Sans"/>
              </a:rPr>
              <a:t>Prize: ₹2,00,000</a:t>
            </a:r>
          </a:p>
        </p:txBody>
      </p:sp>
      <p:sp>
        <p:nvSpPr>
          <p:cNvPr id="27" name="TextBox 6"/>
          <p:cNvSpPr txBox="1"/>
          <p:nvPr/>
        </p:nvSpPr>
        <p:spPr>
          <a:xfrm>
            <a:off x="685800" y="1691640"/>
            <a:ext cx="7315200" cy="320040"/>
          </a:xfrm>
          <a:prstGeom prst="rect">
            <a:avLst/>
          </a:prstGeom>
          <a:noFill/>
        </p:spPr>
        <p:txBody>
          <a:bodyPr wrap="square" anchor="t" lIns="0" rIns="0" tIns="0" bIns="0">
            <a:spAutoFit/>
          </a:bodyPr>
          <a:lstStyle/>
          <a:p>
            <a:pPr algn="l"/>
            <a:r>
              <a:rPr sz="1250" b="0" i="0">
                <a:solidFill>
                  <a:srgbClr val="C9C9D6"/>
                </a:solidFill>
                <a:latin typeface="Google Sans"/>
              </a:rPr>
              <a:t>AI Credits ₹1,00,000  +  Experience Rewards ₹1,00,000</a:t>
            </a:r>
          </a:p>
        </p:txBody>
      </p:sp>
      <p:sp>
        <p:nvSpPr>
          <p:cNvPr id="28" name="TextBox 7"/>
          <p:cNvSpPr txBox="1"/>
          <p:nvPr/>
        </p:nvSpPr>
        <p:spPr>
          <a:xfrm>
            <a:off x="685800" y="2194560"/>
            <a:ext cx="3657600" cy="274320"/>
          </a:xfrm>
          <a:prstGeom prst="rect">
            <a:avLst/>
          </a:prstGeom>
          <a:noFill/>
        </p:spPr>
        <p:txBody>
          <a:bodyPr wrap="square" anchor="t" lIns="0" rIns="0" tIns="0" bIns="0">
            <a:spAutoFit/>
          </a:bodyPr>
          <a:lstStyle/>
          <a:p>
            <a:pPr algn="l"/>
            <a:r>
              <a:rPr sz="1050" b="1" i="0">
                <a:solidFill>
                  <a:srgbClr val="C8F006"/>
                </a:solidFill>
                <a:latin typeface="Google Sans"/>
              </a:rPr>
              <a:t>COMPANY</a:t>
            </a:r>
          </a:p>
        </p:txBody>
      </p:sp>
      <p:sp>
        <p:nvSpPr>
          <p:cNvPr id="29" name="TextBox 8"/>
          <p:cNvSpPr txBox="1"/>
          <p:nvPr/>
        </p:nvSpPr>
        <p:spPr>
          <a:xfrm>
            <a:off x="685800" y="2468880"/>
            <a:ext cx="7315200" cy="384048"/>
          </a:xfrm>
          <a:prstGeom prst="rect">
            <a:avLst/>
          </a:prstGeom>
          <a:noFill/>
        </p:spPr>
        <p:txBody>
          <a:bodyPr wrap="square" anchor="t" lIns="0" rIns="0" tIns="0" bIns="0">
            <a:spAutoFit/>
          </a:bodyPr>
          <a:lstStyle/>
          <a:p>
            <a:pPr algn="l"/>
            <a:r>
              <a:rPr sz="1800" b="1" i="0">
                <a:solidFill>
                  <a:srgbClr val="FFFFFF"/>
                </a:solidFill>
                <a:latin typeface="Google Sans"/>
              </a:rPr>
              <a:t>Leadership Boulevard Pvt Ltd</a:t>
            </a:r>
          </a:p>
        </p:txBody>
      </p:sp>
      <p:sp>
        <p:nvSpPr>
          <p:cNvPr id="30" name="TextBox 9"/>
          <p:cNvSpPr txBox="1"/>
          <p:nvPr/>
        </p:nvSpPr>
        <p:spPr>
          <a:xfrm>
            <a:off x="685800" y="2971800"/>
            <a:ext cx="3657600" cy="274320"/>
          </a:xfrm>
          <a:prstGeom prst="rect">
            <a:avLst/>
          </a:prstGeom>
          <a:noFill/>
        </p:spPr>
        <p:txBody>
          <a:bodyPr wrap="square" anchor="t" lIns="0" rIns="0" tIns="0" bIns="0">
            <a:spAutoFit/>
          </a:bodyPr>
          <a:lstStyle/>
          <a:p>
            <a:pPr algn="l"/>
            <a:r>
              <a:rPr sz="1050" b="1" i="0">
                <a:solidFill>
                  <a:srgbClr val="C8F006"/>
                </a:solidFill>
                <a:latin typeface="Google Sans"/>
              </a:rPr>
              <a:t>CUSTOMER</a:t>
            </a:r>
          </a:p>
        </p:txBody>
      </p:sp>
      <p:sp>
        <p:nvSpPr>
          <p:cNvPr id="31" name="TextBox 10"/>
          <p:cNvSpPr txBox="1"/>
          <p:nvPr/>
        </p:nvSpPr>
        <p:spPr>
          <a:xfrm>
            <a:off x="685800" y="3236976"/>
            <a:ext cx="8686800" cy="502920"/>
          </a:xfrm>
          <a:prstGeom prst="rect">
            <a:avLst/>
          </a:prstGeom>
          <a:noFill/>
        </p:spPr>
        <p:txBody>
          <a:bodyPr wrap="square" anchor="t" lIns="0" rIns="0" tIns="0" bIns="0">
            <a:spAutoFit/>
          </a:bodyPr>
          <a:lstStyle/>
          <a:p>
            <a:pPr algn="l">
              <a:lnSpc>
                <a:spcPct val="125000"/>
              </a:lnSpc>
            </a:pPr>
            <a:r>
              <a:rPr sz="1300" b="0" i="0">
                <a:solidFill>
                  <a:srgbClr val="E7E7EE"/>
                </a:solidFill>
                <a:latin typeface="Google Sans"/>
              </a:rPr>
              <a:t>Pratik Shah - AP &amp; Tax Head,  Ayush Shah - Manager Taxation</a:t>
            </a:r>
          </a:p>
        </p:txBody>
      </p:sp>
      <p:sp>
        <p:nvSpPr>
          <p:cNvPr id="32" name="TextBox 11"/>
          <p:cNvSpPr txBox="1"/>
          <p:nvPr/>
        </p:nvSpPr>
        <p:spPr>
          <a:xfrm>
            <a:off x="685800" y="3749039"/>
            <a:ext cx="3657600" cy="274320"/>
          </a:xfrm>
          <a:prstGeom prst="rect">
            <a:avLst/>
          </a:prstGeom>
          <a:noFill/>
        </p:spPr>
        <p:txBody>
          <a:bodyPr wrap="square" anchor="t" lIns="0" rIns="0" tIns="0" bIns="0">
            <a:spAutoFit/>
          </a:bodyPr>
          <a:lstStyle/>
          <a:p>
            <a:pPr algn="l"/>
            <a:r>
              <a:rPr sz="1050" b="1" i="0">
                <a:solidFill>
                  <a:srgbClr val="C8F006"/>
                </a:solidFill>
                <a:latin typeface="Google Sans"/>
              </a:rPr>
              <a:t>PROBLEM STATEMENT</a:t>
            </a:r>
          </a:p>
        </p:txBody>
      </p:sp>
      <p:sp>
        <p:nvSpPr>
          <p:cNvPr id="33" name="TextBox 12"/>
          <p:cNvSpPr txBox="1"/>
          <p:nvPr/>
        </p:nvSpPr>
        <p:spPr>
          <a:xfrm>
            <a:off x="685800" y="4041647"/>
            <a:ext cx="8686800" cy="457200"/>
          </a:xfrm>
          <a:prstGeom prst="rect">
            <a:avLst/>
          </a:prstGeom>
          <a:noFill/>
        </p:spPr>
        <p:txBody>
          <a:bodyPr wrap="square" anchor="t" lIns="0" rIns="0" tIns="0" bIns="0">
            <a:spAutoFit/>
          </a:bodyPr>
          <a:lstStyle/>
          <a:p>
            <a:pPr algn="l">
              <a:lnSpc>
                <a:spcPct val="110000"/>
              </a:lnSpc>
            </a:pPr>
            <a:r>
              <a:rPr sz="1350" b="1" i="0">
                <a:solidFill>
                  <a:srgbClr val="FFFFFF"/>
                </a:solidFill>
                <a:latin typeface="Google Sans"/>
              </a:rPr>
              <a:t>Autonomous Orchestration of Month-End Statutory Tax Accounting under Multi-State GST Compliance</a:t>
            </a:r>
          </a:p>
        </p:txBody>
      </p:sp>
      <p:sp>
        <p:nvSpPr>
          <p:cNvPr id="34" name="TextBox 13"/>
          <p:cNvSpPr txBox="1"/>
          <p:nvPr/>
        </p:nvSpPr>
        <p:spPr>
          <a:xfrm>
            <a:off x="685800" y="4462271"/>
            <a:ext cx="8686800" cy="2286000"/>
          </a:xfrm>
          <a:prstGeom prst="rect">
            <a:avLst/>
          </a:prstGeom>
          <a:noFill/>
        </p:spPr>
        <p:txBody>
          <a:bodyPr wrap="square" anchor="t" lIns="0" rIns="0" tIns="0" bIns="0">
            <a:spAutoFit/>
          </a:bodyPr>
          <a:lstStyle/>
          <a:p>
            <a:pPr algn="l">
              <a:lnSpc>
                <a:spcPct val="120000"/>
              </a:lnSpc>
            </a:pPr>
            <a:r>
              <a:rPr sz="1000" b="0" i="0">
                <a:solidFill>
                  <a:srgbClr val="C9C9D6"/>
                </a:solidFill>
                <a:latin typeface="Google Sans"/>
              </a:rPr>
              <a:t>The monthly book-closure cycle for an indirect-tax function is a high-stakes, low-tolerance process demanding the reconciliation of filed GST returns (GSTR-3B, GSTR-6) against the general ledger, followed by the generation of statutorily compliant journal entries across multiple GL codes, cost centres, profit centres, and state-wise GSTINs. Each cycle requires the manual interpretation of return summaries, the correct netting of input tax credit against various GST liability accounts, the application of Rule 42 reversal logic for ineligible ITC, the distribution of ISD credits across recipient states, and the transformation of all of this into a 32-column ERP-ready SAP posting file — with zero margin for error, since every entry is subject to audit and statutory scrutiny.</a:t>
            </a:r>
          </a:p>
          <a:p>
            <a:pPr algn="l">
              <a:lnSpc>
                <a:spcPct val="120000"/>
              </a:lnSpc>
            </a:pPr>
            <a:r>
              <a:rPr sz="1000" b="0" i="0">
                <a:solidFill>
                  <a:srgbClr val="C9C9D6"/>
                </a:solidFill>
                <a:latin typeface="Google Sans"/>
              </a:rPr>
              <a:t/>
            </a:r>
          </a:p>
          <a:p>
            <a:pPr algn="l">
              <a:lnSpc>
                <a:spcPct val="120000"/>
              </a:lnSpc>
            </a:pPr>
            <a:r>
              <a:rPr sz="1000" b="0" i="0">
                <a:solidFill>
                  <a:srgbClr val="C9C9D6"/>
                </a:solidFill>
                <a:latin typeface="Google Sans"/>
              </a:rPr>
              <a:t>Today this is executed manually by skilled tax professionals, consuming 1.5–2 days per month, and creating a single point of dependency, key-person risk, and a persistent exposure to transcription and classification errors.</a:t>
            </a:r>
          </a:p>
        </p:txBody>
      </p:sp>
      <p:sp>
        <p:nvSpPr>
          <p:cNvPr id="35" name="TextBox 14"/>
          <p:cNvSpPr txBox="1"/>
          <p:nvPr/>
        </p:nvSpPr>
        <p:spPr>
          <a:xfrm>
            <a:off x="685800" y="6473952"/>
            <a:ext cx="5486400" cy="274320"/>
          </a:xfrm>
          <a:prstGeom prst="rect">
            <a:avLst/>
          </a:prstGeom>
          <a:noFill/>
        </p:spPr>
        <p:txBody>
          <a:bodyPr wrap="square" anchor="t" lIns="0" rIns="0" tIns="0" bIns="0">
            <a:spAutoFit/>
          </a:bodyPr>
          <a:lstStyle/>
          <a:p>
            <a:pPr algn="l"/>
            <a:r>
              <a:rPr sz="950" b="0" i="0">
                <a:solidFill>
                  <a:srgbClr val="C9C9D6"/>
                </a:solidFill>
                <a:latin typeface="Google Sans"/>
              </a:rPr>
              <a:t>cleartax  ·  Forward AI Workshop</a:t>
            </a:r>
          </a:p>
        </p:txBody>
      </p:sp>
      <p:sp>
        <p:nvSpPr>
          <p:cNvPr id="36" name="TextBox 15"/>
          <p:cNvSpPr txBox="1"/>
          <p:nvPr/>
        </p:nvSpPr>
        <p:spPr>
          <a:xfrm>
            <a:off x="10591495" y="6473952"/>
            <a:ext cx="914400" cy="274320"/>
          </a:xfrm>
          <a:prstGeom prst="rect">
            <a:avLst/>
          </a:prstGeom>
          <a:noFill/>
        </p:spPr>
        <p:txBody>
          <a:bodyPr wrap="square" anchor="t" lIns="0" rIns="0" tIns="0" bIns="0">
            <a:spAutoFit/>
          </a:bodyPr>
          <a:lstStyle/>
          <a:p>
            <a:pPr algn="r"/>
            <a:r>
              <a:rPr sz="950" b="0" i="0">
                <a:solidFill>
                  <a:srgbClr val="C9C9D6"/>
                </a:solidFill>
                <a:latin typeface="Google Sans"/>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7" name="Rectangle 1"/>
          <p:cNvSpPr/>
          <p:nvPr/>
        </p:nvSpPr>
        <p:spPr>
          <a:xfrm>
            <a:off x="0" y="0"/>
            <a:ext cx="12191695" cy="6858000"/>
          </a:xfrm>
          <a:prstGeom prst="rect">
            <a:avLst/>
          </a:prstGeom>
          <a:solidFill>
            <a:srgbClr val="050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2" descr="dotgrid_dark.png"/>
          <p:cNvPicPr>
            <a:picLocks noChangeAspect="1"/>
          </p:cNvPicPr>
          <p:nvPr/>
        </p:nvPicPr>
        <p:blipFill>
          <a:blip r:embed="rId2"/>
          <a:stretch>
            <a:fillRect/>
          </a:stretch>
        </p:blipFill>
        <p:spPr>
          <a:xfrm>
            <a:off x="8229600" y="0"/>
            <a:ext cx="4023360" cy="6858000"/>
          </a:xfrm>
          <a:prstGeom prst="rect">
            <a:avLst/>
          </a:prstGeom>
        </p:spPr>
      </p:pic>
      <p:pic>
        <p:nvPicPr>
          <p:cNvPr id="39" name="Picture 3" descr="Cleartax-logo-white.png"/>
          <p:cNvPicPr>
            <a:picLocks noChangeAspect="1"/>
          </p:cNvPicPr>
          <p:nvPr/>
        </p:nvPicPr>
        <p:blipFill>
          <a:blip r:embed="rId3"/>
          <a:stretch>
            <a:fillRect/>
          </a:stretch>
        </p:blipFill>
        <p:spPr>
          <a:xfrm>
            <a:off x="10454335" y="502920"/>
            <a:ext cx="1051560" cy="239141"/>
          </a:xfrm>
          <a:prstGeom prst="rect">
            <a:avLst/>
          </a:prstGeom>
        </p:spPr>
      </p:pic>
      <p:sp>
        <p:nvSpPr>
          <p:cNvPr id="40" name="Rounded Rectangle 4"/>
          <p:cNvSpPr/>
          <p:nvPr/>
        </p:nvSpPr>
        <p:spPr>
          <a:xfrm>
            <a:off x="685800" y="502920"/>
            <a:ext cx="1554480" cy="365760"/>
          </a:xfrm>
          <a:prstGeom prst="roundRect">
            <a:avLst>
              <a:gd name="adj" fmla="val 50000"/>
            </a:avLst>
          </a:prstGeom>
          <a:solidFill>
            <a:srgbClr val="C8F0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05022A"/>
                </a:solidFill>
                <a:latin typeface="Google Sans"/>
              </a:rPr>
              <a:t>2ND WINNER</a:t>
            </a:r>
          </a:p>
        </p:txBody>
      </p:sp>
      <p:sp>
        <p:nvSpPr>
          <p:cNvPr id="41" name="TextBox 5"/>
          <p:cNvSpPr txBox="1"/>
          <p:nvPr/>
        </p:nvSpPr>
        <p:spPr>
          <a:xfrm>
            <a:off x="685800" y="1170432"/>
            <a:ext cx="7315200" cy="594360"/>
          </a:xfrm>
          <a:prstGeom prst="rect">
            <a:avLst/>
          </a:prstGeom>
          <a:noFill/>
        </p:spPr>
        <p:txBody>
          <a:bodyPr wrap="square" anchor="t" lIns="0" rIns="0" tIns="0" bIns="0">
            <a:spAutoFit/>
          </a:bodyPr>
          <a:lstStyle/>
          <a:p>
            <a:pPr algn="l"/>
            <a:r>
              <a:rPr sz="2800" b="1" i="0">
                <a:solidFill>
                  <a:srgbClr val="FFFFFF"/>
                </a:solidFill>
                <a:latin typeface="Google Sans"/>
              </a:rPr>
              <a:t>Prize: ₹1,20,000</a:t>
            </a:r>
          </a:p>
        </p:txBody>
      </p:sp>
      <p:sp>
        <p:nvSpPr>
          <p:cNvPr id="42" name="TextBox 6"/>
          <p:cNvSpPr txBox="1"/>
          <p:nvPr/>
        </p:nvSpPr>
        <p:spPr>
          <a:xfrm>
            <a:off x="685800" y="1691640"/>
            <a:ext cx="7315200" cy="320040"/>
          </a:xfrm>
          <a:prstGeom prst="rect">
            <a:avLst/>
          </a:prstGeom>
          <a:noFill/>
        </p:spPr>
        <p:txBody>
          <a:bodyPr wrap="square" anchor="t" lIns="0" rIns="0" tIns="0" bIns="0">
            <a:spAutoFit/>
          </a:bodyPr>
          <a:lstStyle/>
          <a:p>
            <a:pPr algn="l"/>
            <a:r>
              <a:rPr sz="1250" b="0" i="0">
                <a:solidFill>
                  <a:srgbClr val="C9C9D6"/>
                </a:solidFill>
                <a:latin typeface="Google Sans"/>
              </a:rPr>
              <a:t>AI Credits ₹60,000  +  Experience Rewards ₹60,000</a:t>
            </a:r>
          </a:p>
        </p:txBody>
      </p:sp>
      <p:sp>
        <p:nvSpPr>
          <p:cNvPr id="43" name="TextBox 7"/>
          <p:cNvSpPr txBox="1"/>
          <p:nvPr/>
        </p:nvSpPr>
        <p:spPr>
          <a:xfrm>
            <a:off x="685800" y="2194560"/>
            <a:ext cx="3657600" cy="274320"/>
          </a:xfrm>
          <a:prstGeom prst="rect">
            <a:avLst/>
          </a:prstGeom>
          <a:noFill/>
        </p:spPr>
        <p:txBody>
          <a:bodyPr wrap="square" anchor="t" lIns="0" rIns="0" tIns="0" bIns="0">
            <a:spAutoFit/>
          </a:bodyPr>
          <a:lstStyle/>
          <a:p>
            <a:pPr algn="l"/>
            <a:r>
              <a:rPr sz="1050" b="1" i="0">
                <a:solidFill>
                  <a:srgbClr val="C8F006"/>
                </a:solidFill>
                <a:latin typeface="Google Sans"/>
              </a:rPr>
              <a:t>COMPANY</a:t>
            </a:r>
          </a:p>
        </p:txBody>
      </p:sp>
      <p:sp>
        <p:nvSpPr>
          <p:cNvPr id="44" name="TextBox 8"/>
          <p:cNvSpPr txBox="1"/>
          <p:nvPr/>
        </p:nvSpPr>
        <p:spPr>
          <a:xfrm>
            <a:off x="685800" y="2468880"/>
            <a:ext cx="7315200" cy="384048"/>
          </a:xfrm>
          <a:prstGeom prst="rect">
            <a:avLst/>
          </a:prstGeom>
          <a:noFill/>
        </p:spPr>
        <p:txBody>
          <a:bodyPr wrap="square" anchor="t" lIns="0" rIns="0" tIns="0" bIns="0">
            <a:spAutoFit/>
          </a:bodyPr>
          <a:lstStyle/>
          <a:p>
            <a:pPr algn="l"/>
            <a:r>
              <a:rPr sz="1800" b="1" i="0">
                <a:solidFill>
                  <a:srgbClr val="FFFFFF"/>
                </a:solidFill>
                <a:latin typeface="Google Sans"/>
              </a:rPr>
              <a:t>Schoolnet India Limited</a:t>
            </a:r>
          </a:p>
        </p:txBody>
      </p:sp>
      <p:sp>
        <p:nvSpPr>
          <p:cNvPr id="45" name="TextBox 9"/>
          <p:cNvSpPr txBox="1"/>
          <p:nvPr/>
        </p:nvSpPr>
        <p:spPr>
          <a:xfrm>
            <a:off x="685800" y="2971800"/>
            <a:ext cx="3657600" cy="274320"/>
          </a:xfrm>
          <a:prstGeom prst="rect">
            <a:avLst/>
          </a:prstGeom>
          <a:noFill/>
        </p:spPr>
        <p:txBody>
          <a:bodyPr wrap="square" anchor="t" lIns="0" rIns="0" tIns="0" bIns="0">
            <a:spAutoFit/>
          </a:bodyPr>
          <a:lstStyle/>
          <a:p>
            <a:pPr algn="l"/>
            <a:r>
              <a:rPr sz="1050" b="1" i="0">
                <a:solidFill>
                  <a:srgbClr val="C8F006"/>
                </a:solidFill>
                <a:latin typeface="Google Sans"/>
              </a:rPr>
              <a:t>CUSTOMER</a:t>
            </a:r>
          </a:p>
        </p:txBody>
      </p:sp>
      <p:sp>
        <p:nvSpPr>
          <p:cNvPr id="46" name="TextBox 10"/>
          <p:cNvSpPr txBox="1"/>
          <p:nvPr/>
        </p:nvSpPr>
        <p:spPr>
          <a:xfrm>
            <a:off x="685800" y="3236976"/>
            <a:ext cx="8686800" cy="502920"/>
          </a:xfrm>
          <a:prstGeom prst="rect">
            <a:avLst/>
          </a:prstGeom>
          <a:noFill/>
        </p:spPr>
        <p:txBody>
          <a:bodyPr wrap="square" anchor="t" lIns="0" rIns="0" tIns="0" bIns="0">
            <a:spAutoFit/>
          </a:bodyPr>
          <a:lstStyle/>
          <a:p>
            <a:pPr algn="l">
              <a:lnSpc>
                <a:spcPct val="125000"/>
              </a:lnSpc>
            </a:pPr>
            <a:r>
              <a:rPr sz="1300" b="0" i="0">
                <a:solidFill>
                  <a:srgbClr val="E7E7EE"/>
                </a:solidFill>
                <a:latin typeface="Google Sans"/>
              </a:rPr>
              <a:t>Pratik Shah - AP &amp; Tax Head,  Ayush Shah - Manager Taxation</a:t>
            </a:r>
          </a:p>
        </p:txBody>
      </p:sp>
      <p:sp>
        <p:nvSpPr>
          <p:cNvPr id="47" name="TextBox 11"/>
          <p:cNvSpPr txBox="1"/>
          <p:nvPr/>
        </p:nvSpPr>
        <p:spPr>
          <a:xfrm>
            <a:off x="685800" y="3749039"/>
            <a:ext cx="3657600" cy="274320"/>
          </a:xfrm>
          <a:prstGeom prst="rect">
            <a:avLst/>
          </a:prstGeom>
          <a:noFill/>
        </p:spPr>
        <p:txBody>
          <a:bodyPr wrap="square" anchor="t" lIns="0" rIns="0" tIns="0" bIns="0">
            <a:spAutoFit/>
          </a:bodyPr>
          <a:lstStyle/>
          <a:p>
            <a:pPr algn="l"/>
            <a:r>
              <a:rPr sz="1050" b="1" i="0">
                <a:solidFill>
                  <a:srgbClr val="C8F006"/>
                </a:solidFill>
                <a:latin typeface="Google Sans"/>
              </a:rPr>
              <a:t>PROBLEM STATEMENT</a:t>
            </a:r>
          </a:p>
        </p:txBody>
      </p:sp>
      <p:sp>
        <p:nvSpPr>
          <p:cNvPr id="48" name="TextBox 12"/>
          <p:cNvSpPr txBox="1"/>
          <p:nvPr/>
        </p:nvSpPr>
        <p:spPr>
          <a:xfrm>
            <a:off x="685800" y="4041647"/>
            <a:ext cx="8686800" cy="2286000"/>
          </a:xfrm>
          <a:prstGeom prst="rect">
            <a:avLst/>
          </a:prstGeom>
          <a:noFill/>
        </p:spPr>
        <p:txBody>
          <a:bodyPr wrap="square" anchor="t" lIns="0" rIns="0" tIns="0" bIns="0">
            <a:spAutoFit/>
          </a:bodyPr>
          <a:lstStyle/>
          <a:p>
            <a:pPr algn="l">
              <a:lnSpc>
                <a:spcPct val="120000"/>
              </a:lnSpc>
            </a:pPr>
            <a:r>
              <a:rPr sz="1000" b="0" i="0">
                <a:solidFill>
                  <a:srgbClr val="C9C9D6"/>
                </a:solidFill>
                <a:latin typeface="Google Sans"/>
              </a:rPr>
              <a:t>1.  GSTR9 table-wise reporting (Table 1-7, 13, 9, 17, 19)</a:t>
            </a:r>
          </a:p>
          <a:p>
            <a:pPr algn="l">
              <a:lnSpc>
                <a:spcPct val="120000"/>
              </a:lnSpc>
            </a:pPr>
            <a:r>
              <a:rPr sz="1000" b="0" i="0">
                <a:solidFill>
                  <a:srgbClr val="C9C9D6"/>
                </a:solidFill>
                <a:latin typeface="Google Sans"/>
              </a:rPr>
              <a:t>2.  Notice Management dashboard along with Ledger Balance</a:t>
            </a:r>
          </a:p>
        </p:txBody>
      </p:sp>
      <p:sp>
        <p:nvSpPr>
          <p:cNvPr id="49" name="TextBox 13"/>
          <p:cNvSpPr txBox="1"/>
          <p:nvPr/>
        </p:nvSpPr>
        <p:spPr>
          <a:xfrm>
            <a:off x="685800" y="6473952"/>
            <a:ext cx="5486400" cy="274320"/>
          </a:xfrm>
          <a:prstGeom prst="rect">
            <a:avLst/>
          </a:prstGeom>
          <a:noFill/>
        </p:spPr>
        <p:txBody>
          <a:bodyPr wrap="square" anchor="t" lIns="0" rIns="0" tIns="0" bIns="0">
            <a:spAutoFit/>
          </a:bodyPr>
          <a:lstStyle/>
          <a:p>
            <a:pPr algn="l"/>
            <a:r>
              <a:rPr sz="950" b="0" i="0">
                <a:solidFill>
                  <a:srgbClr val="C9C9D6"/>
                </a:solidFill>
                <a:latin typeface="Google Sans"/>
              </a:rPr>
              <a:t>cleartax  ·  Forward AI Workshop</a:t>
            </a:r>
          </a:p>
        </p:txBody>
      </p:sp>
      <p:sp>
        <p:nvSpPr>
          <p:cNvPr id="50" name="TextBox 14"/>
          <p:cNvSpPr txBox="1"/>
          <p:nvPr/>
        </p:nvSpPr>
        <p:spPr>
          <a:xfrm>
            <a:off x="10591495" y="6473952"/>
            <a:ext cx="914400" cy="274320"/>
          </a:xfrm>
          <a:prstGeom prst="rect">
            <a:avLst/>
          </a:prstGeom>
          <a:noFill/>
        </p:spPr>
        <p:txBody>
          <a:bodyPr wrap="square" anchor="t" lIns="0" rIns="0" tIns="0" bIns="0">
            <a:spAutoFit/>
          </a:bodyPr>
          <a:lstStyle/>
          <a:p>
            <a:pPr algn="r"/>
            <a:r>
              <a:rPr sz="950" b="0" i="0">
                <a:solidFill>
                  <a:srgbClr val="C9C9D6"/>
                </a:solidFill>
                <a:latin typeface="Google Sans"/>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1" name="Rectangle 1"/>
          <p:cNvSpPr/>
          <p:nvPr/>
        </p:nvSpPr>
        <p:spPr>
          <a:xfrm>
            <a:off x="0" y="0"/>
            <a:ext cx="12191695" cy="6858000"/>
          </a:xfrm>
          <a:prstGeom prst="rect">
            <a:avLst/>
          </a:prstGeom>
          <a:solidFill>
            <a:srgbClr val="050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2" descr="dotgrid_dark.png"/>
          <p:cNvPicPr>
            <a:picLocks noChangeAspect="1"/>
          </p:cNvPicPr>
          <p:nvPr/>
        </p:nvPicPr>
        <p:blipFill>
          <a:blip r:embed="rId2"/>
          <a:stretch>
            <a:fillRect/>
          </a:stretch>
        </p:blipFill>
        <p:spPr>
          <a:xfrm>
            <a:off x="8229600" y="0"/>
            <a:ext cx="4023360" cy="6858000"/>
          </a:xfrm>
          <a:prstGeom prst="rect">
            <a:avLst/>
          </a:prstGeom>
        </p:spPr>
      </p:pic>
      <p:pic>
        <p:nvPicPr>
          <p:cNvPr id="53" name="Picture 3" descr="Cleartax-logo-white.png"/>
          <p:cNvPicPr>
            <a:picLocks noChangeAspect="1"/>
          </p:cNvPicPr>
          <p:nvPr/>
        </p:nvPicPr>
        <p:blipFill>
          <a:blip r:embed="rId3"/>
          <a:stretch>
            <a:fillRect/>
          </a:stretch>
        </p:blipFill>
        <p:spPr>
          <a:xfrm>
            <a:off x="10454335" y="502920"/>
            <a:ext cx="1051560" cy="239141"/>
          </a:xfrm>
          <a:prstGeom prst="rect">
            <a:avLst/>
          </a:prstGeom>
        </p:spPr>
      </p:pic>
      <p:sp>
        <p:nvSpPr>
          <p:cNvPr id="54" name="Rounded Rectangle 4"/>
          <p:cNvSpPr/>
          <p:nvPr/>
        </p:nvSpPr>
        <p:spPr>
          <a:xfrm>
            <a:off x="685800" y="502920"/>
            <a:ext cx="1554480" cy="365760"/>
          </a:xfrm>
          <a:prstGeom prst="roundRect">
            <a:avLst>
              <a:gd name="adj" fmla="val 50000"/>
            </a:avLst>
          </a:prstGeom>
          <a:solidFill>
            <a:srgbClr val="C8F0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05022A"/>
                </a:solidFill>
                <a:latin typeface="Google Sans"/>
              </a:rPr>
              <a:t>3RD WINNER</a:t>
            </a:r>
          </a:p>
        </p:txBody>
      </p:sp>
      <p:sp>
        <p:nvSpPr>
          <p:cNvPr id="55" name="TextBox 5"/>
          <p:cNvSpPr txBox="1"/>
          <p:nvPr/>
        </p:nvSpPr>
        <p:spPr>
          <a:xfrm>
            <a:off x="685800" y="1170432"/>
            <a:ext cx="7315200" cy="594360"/>
          </a:xfrm>
          <a:prstGeom prst="rect">
            <a:avLst/>
          </a:prstGeom>
          <a:noFill/>
        </p:spPr>
        <p:txBody>
          <a:bodyPr wrap="square" anchor="t" lIns="0" rIns="0" tIns="0" bIns="0">
            <a:spAutoFit/>
          </a:bodyPr>
          <a:lstStyle/>
          <a:p>
            <a:pPr algn="l"/>
            <a:r>
              <a:rPr sz="2800" b="1" i="0">
                <a:solidFill>
                  <a:srgbClr val="FFFFFF"/>
                </a:solidFill>
                <a:latin typeface="Google Sans"/>
              </a:rPr>
              <a:t>Prize: ₹60,000</a:t>
            </a:r>
          </a:p>
        </p:txBody>
      </p:sp>
      <p:sp>
        <p:nvSpPr>
          <p:cNvPr id="56" name="TextBox 6"/>
          <p:cNvSpPr txBox="1"/>
          <p:nvPr/>
        </p:nvSpPr>
        <p:spPr>
          <a:xfrm>
            <a:off x="685800" y="1691640"/>
            <a:ext cx="7315200" cy="320040"/>
          </a:xfrm>
          <a:prstGeom prst="rect">
            <a:avLst/>
          </a:prstGeom>
          <a:noFill/>
        </p:spPr>
        <p:txBody>
          <a:bodyPr wrap="square" anchor="t" lIns="0" rIns="0" tIns="0" bIns="0">
            <a:spAutoFit/>
          </a:bodyPr>
          <a:lstStyle/>
          <a:p>
            <a:pPr algn="l"/>
            <a:r>
              <a:rPr sz="1250" b="0" i="0">
                <a:solidFill>
                  <a:srgbClr val="C9C9D6"/>
                </a:solidFill>
                <a:latin typeface="Google Sans"/>
              </a:rPr>
              <a:t>AI Credits ₹30,000  +  Experience Rewards ₹30,000</a:t>
            </a:r>
          </a:p>
        </p:txBody>
      </p:sp>
      <p:sp>
        <p:nvSpPr>
          <p:cNvPr id="57" name="TextBox 7"/>
          <p:cNvSpPr txBox="1"/>
          <p:nvPr/>
        </p:nvSpPr>
        <p:spPr>
          <a:xfrm>
            <a:off x="685800" y="2194560"/>
            <a:ext cx="3657600" cy="274320"/>
          </a:xfrm>
          <a:prstGeom prst="rect">
            <a:avLst/>
          </a:prstGeom>
          <a:noFill/>
        </p:spPr>
        <p:txBody>
          <a:bodyPr wrap="square" anchor="t" lIns="0" rIns="0" tIns="0" bIns="0">
            <a:spAutoFit/>
          </a:bodyPr>
          <a:lstStyle/>
          <a:p>
            <a:pPr algn="l"/>
            <a:r>
              <a:rPr sz="1050" b="1" i="0">
                <a:solidFill>
                  <a:srgbClr val="C8F006"/>
                </a:solidFill>
                <a:latin typeface="Google Sans"/>
              </a:rPr>
              <a:t>COMPANY</a:t>
            </a:r>
          </a:p>
        </p:txBody>
      </p:sp>
      <p:sp>
        <p:nvSpPr>
          <p:cNvPr id="58" name="TextBox 8"/>
          <p:cNvSpPr txBox="1"/>
          <p:nvPr/>
        </p:nvSpPr>
        <p:spPr>
          <a:xfrm>
            <a:off x="685800" y="2468880"/>
            <a:ext cx="7315200" cy="384048"/>
          </a:xfrm>
          <a:prstGeom prst="rect">
            <a:avLst/>
          </a:prstGeom>
          <a:noFill/>
        </p:spPr>
        <p:txBody>
          <a:bodyPr wrap="square" anchor="t" lIns="0" rIns="0" tIns="0" bIns="0">
            <a:spAutoFit/>
          </a:bodyPr>
          <a:lstStyle/>
          <a:p>
            <a:pPr algn="l"/>
            <a:r>
              <a:rPr sz="1800" b="1" i="0">
                <a:solidFill>
                  <a:srgbClr val="FFFFFF"/>
                </a:solidFill>
                <a:latin typeface="Google Sans"/>
              </a:rPr>
              <a:t>Coromandel</a:t>
            </a:r>
          </a:p>
        </p:txBody>
      </p:sp>
      <p:sp>
        <p:nvSpPr>
          <p:cNvPr id="59" name="TextBox 9"/>
          <p:cNvSpPr txBox="1"/>
          <p:nvPr/>
        </p:nvSpPr>
        <p:spPr>
          <a:xfrm>
            <a:off x="685800" y="2971800"/>
            <a:ext cx="3657600" cy="274320"/>
          </a:xfrm>
          <a:prstGeom prst="rect">
            <a:avLst/>
          </a:prstGeom>
          <a:noFill/>
        </p:spPr>
        <p:txBody>
          <a:bodyPr wrap="square" anchor="t" lIns="0" rIns="0" tIns="0" bIns="0">
            <a:spAutoFit/>
          </a:bodyPr>
          <a:lstStyle/>
          <a:p>
            <a:pPr algn="l"/>
            <a:r>
              <a:rPr sz="1050" b="1" i="0">
                <a:solidFill>
                  <a:srgbClr val="C8F006"/>
                </a:solidFill>
                <a:latin typeface="Google Sans"/>
              </a:rPr>
              <a:t>CUSTOMER</a:t>
            </a:r>
          </a:p>
        </p:txBody>
      </p:sp>
      <p:sp>
        <p:nvSpPr>
          <p:cNvPr id="60" name="TextBox 10"/>
          <p:cNvSpPr txBox="1"/>
          <p:nvPr/>
        </p:nvSpPr>
        <p:spPr>
          <a:xfrm>
            <a:off x="685800" y="3236976"/>
            <a:ext cx="8686800" cy="502920"/>
          </a:xfrm>
          <a:prstGeom prst="rect">
            <a:avLst/>
          </a:prstGeom>
          <a:noFill/>
        </p:spPr>
        <p:txBody>
          <a:bodyPr wrap="square" anchor="t" lIns="0" rIns="0" tIns="0" bIns="0">
            <a:spAutoFit/>
          </a:bodyPr>
          <a:lstStyle/>
          <a:p>
            <a:pPr algn="l">
              <a:lnSpc>
                <a:spcPct val="125000"/>
              </a:lnSpc>
            </a:pPr>
            <a:r>
              <a:rPr sz="1300" b="0" i="0">
                <a:solidFill>
                  <a:srgbClr val="E7E7EE"/>
                </a:solidFill>
                <a:latin typeface="Google Sans"/>
              </a:rPr>
              <a:t>Amit Mishra (Senior Manager Taxation)</a:t>
            </a:r>
          </a:p>
        </p:txBody>
      </p:sp>
      <p:sp>
        <p:nvSpPr>
          <p:cNvPr id="61" name="TextBox 11"/>
          <p:cNvSpPr txBox="1"/>
          <p:nvPr/>
        </p:nvSpPr>
        <p:spPr>
          <a:xfrm>
            <a:off x="685800" y="3749039"/>
            <a:ext cx="3657600" cy="274320"/>
          </a:xfrm>
          <a:prstGeom prst="rect">
            <a:avLst/>
          </a:prstGeom>
          <a:noFill/>
        </p:spPr>
        <p:txBody>
          <a:bodyPr wrap="square" anchor="t" lIns="0" rIns="0" tIns="0" bIns="0">
            <a:spAutoFit/>
          </a:bodyPr>
          <a:lstStyle/>
          <a:p>
            <a:pPr algn="l"/>
            <a:r>
              <a:rPr sz="1050" b="1" i="0">
                <a:solidFill>
                  <a:srgbClr val="C8F006"/>
                </a:solidFill>
                <a:latin typeface="Google Sans"/>
              </a:rPr>
              <a:t>PROBLEM STATEMENT</a:t>
            </a:r>
          </a:p>
        </p:txBody>
      </p:sp>
      <p:sp>
        <p:nvSpPr>
          <p:cNvPr id="62" name="TextBox 12"/>
          <p:cNvSpPr txBox="1"/>
          <p:nvPr/>
        </p:nvSpPr>
        <p:spPr>
          <a:xfrm>
            <a:off x="685800" y="4041647"/>
            <a:ext cx="8686800" cy="2286000"/>
          </a:xfrm>
          <a:prstGeom prst="rect">
            <a:avLst/>
          </a:prstGeom>
          <a:noFill/>
        </p:spPr>
        <p:txBody>
          <a:bodyPr wrap="square" anchor="t" lIns="0" rIns="0" tIns="0" bIns="0">
            <a:spAutoFit/>
          </a:bodyPr>
          <a:lstStyle/>
          <a:p>
            <a:pPr algn="l">
              <a:lnSpc>
                <a:spcPct val="120000"/>
              </a:lnSpc>
            </a:pPr>
            <a:r>
              <a:rPr sz="1000" b="0" i="0">
                <a:solidFill>
                  <a:srgbClr val="C9C9D6"/>
                </a:solidFill>
                <a:latin typeface="Google Sans"/>
              </a:rPr>
              <a:t>1.  GSTR9 table-wise reporting (Table 1-7, 13, 9, 17, 19)</a:t>
            </a:r>
          </a:p>
          <a:p>
            <a:pPr algn="l">
              <a:lnSpc>
                <a:spcPct val="120000"/>
              </a:lnSpc>
            </a:pPr>
            <a:r>
              <a:rPr sz="1000" b="0" i="0">
                <a:solidFill>
                  <a:srgbClr val="C9C9D6"/>
                </a:solidFill>
                <a:latin typeface="Google Sans"/>
              </a:rPr>
              <a:t>2.  Notice Management dashboard along with Ledger Balance</a:t>
            </a:r>
          </a:p>
        </p:txBody>
      </p:sp>
      <p:sp>
        <p:nvSpPr>
          <p:cNvPr id="63" name="TextBox 13"/>
          <p:cNvSpPr txBox="1"/>
          <p:nvPr/>
        </p:nvSpPr>
        <p:spPr>
          <a:xfrm>
            <a:off x="685800" y="6473952"/>
            <a:ext cx="5486400" cy="274320"/>
          </a:xfrm>
          <a:prstGeom prst="rect">
            <a:avLst/>
          </a:prstGeom>
          <a:noFill/>
        </p:spPr>
        <p:txBody>
          <a:bodyPr wrap="square" anchor="t" lIns="0" rIns="0" tIns="0" bIns="0">
            <a:spAutoFit/>
          </a:bodyPr>
          <a:lstStyle/>
          <a:p>
            <a:pPr algn="l"/>
            <a:r>
              <a:rPr sz="950" b="0" i="0">
                <a:solidFill>
                  <a:srgbClr val="C9C9D6"/>
                </a:solidFill>
                <a:latin typeface="Google Sans"/>
              </a:rPr>
              <a:t>cleartax  ·  Forward AI Workshop</a:t>
            </a:r>
          </a:p>
        </p:txBody>
      </p:sp>
      <p:sp>
        <p:nvSpPr>
          <p:cNvPr id="64" name="TextBox 14"/>
          <p:cNvSpPr txBox="1"/>
          <p:nvPr/>
        </p:nvSpPr>
        <p:spPr>
          <a:xfrm>
            <a:off x="10591495" y="6473952"/>
            <a:ext cx="914400" cy="274320"/>
          </a:xfrm>
          <a:prstGeom prst="rect">
            <a:avLst/>
          </a:prstGeom>
          <a:noFill/>
        </p:spPr>
        <p:txBody>
          <a:bodyPr wrap="square" anchor="t" lIns="0" rIns="0" tIns="0" bIns="0">
            <a:spAutoFit/>
          </a:bodyPr>
          <a:lstStyle/>
          <a:p>
            <a:pPr algn="r"/>
            <a:r>
              <a:rPr sz="950" b="0" i="0">
                <a:solidFill>
                  <a:srgbClr val="C9C9D6"/>
                </a:solidFill>
                <a:latin typeface="Google Sans"/>
              </a:rPr>
              <a:t>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