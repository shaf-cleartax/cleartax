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sign system/Logo/Cleartax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E-INVOICING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The Business Case for E-Invoicing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8406" y="2148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How digital invoicing reduces cost, improves compliance, and accelerates finance operations.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8406" y="312724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Governments around the world are moving toward mandatory digital invoicing. Businesses that adopt early improve efficiency, reduce compliance risks, and accelerate financial operations.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26280" y="1965960"/>
            <a:ext cx="410931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10328" y="2624328"/>
            <a:ext cx="3341218" cy="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81728" y="23957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817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07408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Business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17032" y="23957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1703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🖥️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42712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ERP System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15761" y="2359152"/>
            <a:ext cx="530352" cy="530352"/>
          </a:xfrm>
          <a:prstGeom prst="ellipse">
            <a:avLst/>
          </a:prstGeom>
          <a:solidFill>
            <a:srgbClr val="3355FF"/>
          </a:solidFill>
          <a:ln w="15875">
            <a:solidFill>
              <a:srgbClr val="335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5761" y="23591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🔗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78017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Digital Network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87641" y="23957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87641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🏛️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13321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Tax Authority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22946" y="23957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2294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👤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748626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Customer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sign system/Logo/Cleartax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WHY IT'S HAPPENING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Why Organizations Are Transitioning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8406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Governments are replacing traditional paper invoicing with structured digital invoices that enable real-time reporting and better tax compliance.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8406" y="2286000"/>
            <a:ext cx="2538374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7862" y="2505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6DDFF"/>
          </a:solidFill>
          <a:ln/>
        </p:spPr>
      </p:sp>
      <p:sp>
        <p:nvSpPr>
          <p:cNvPr id="8" name="Text 5"/>
          <p:cNvSpPr/>
          <p:nvPr/>
        </p:nvSpPr>
        <p:spPr>
          <a:xfrm>
            <a:off x="727862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🛡️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7862" y="2999232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9302" y="3337560"/>
            <a:ext cx="20080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Improved audit readiness</a:t>
            </a:r>
            <a:endParaRPr lang="en-US" sz="950" dirty="0"/>
          </a:p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Better compliance posture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1286" y="4151376"/>
            <a:ext cx="2172614" cy="4572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/>
        </p:spPr>
      </p:sp>
      <p:sp>
        <p:nvSpPr>
          <p:cNvPr id="12" name="Text 9"/>
          <p:cNvSpPr/>
          <p:nvPr/>
        </p:nvSpPr>
        <p:spPr>
          <a:xfrm>
            <a:off x="801014" y="419709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~60%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1014" y="4407408"/>
            <a:ext cx="1989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fewer invoice errors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02813" y="2286000"/>
            <a:ext cx="2538374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2269" y="2505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6DDFF"/>
          </a:solidFill>
          <a:ln/>
        </p:spPr>
      </p:sp>
      <p:sp>
        <p:nvSpPr>
          <p:cNvPr id="16" name="Text 13"/>
          <p:cNvSpPr/>
          <p:nvPr/>
        </p:nvSpPr>
        <p:spPr>
          <a:xfrm>
            <a:off x="3522269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⚙️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22269" y="2999232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613709" y="3337560"/>
            <a:ext cx="20080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Lower invoice processing costs</a:t>
            </a:r>
            <a:endParaRPr lang="en-US" sz="950" dirty="0"/>
          </a:p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Reduced manual errors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85693" y="4151376"/>
            <a:ext cx="2172614" cy="4572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/>
        </p:spPr>
      </p:sp>
      <p:sp>
        <p:nvSpPr>
          <p:cNvPr id="20" name="Text 17"/>
          <p:cNvSpPr/>
          <p:nvPr/>
        </p:nvSpPr>
        <p:spPr>
          <a:xfrm>
            <a:off x="3595421" y="419709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Up to 80%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595421" y="4407408"/>
            <a:ext cx="1989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reduction in manual processing effort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97219" y="2286000"/>
            <a:ext cx="2538374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16675" y="2505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6DDFF"/>
          </a:solidFill>
          <a:ln/>
        </p:spPr>
      </p:sp>
      <p:sp>
        <p:nvSpPr>
          <p:cNvPr id="24" name="Text 21"/>
          <p:cNvSpPr/>
          <p:nvPr/>
        </p:nvSpPr>
        <p:spPr>
          <a:xfrm>
            <a:off x="6316675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316675" y="2999232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Faster Payments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8115" y="3337560"/>
            <a:ext cx="20080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Faster approvals</a:t>
            </a:r>
            <a:endParaRPr lang="en-US" sz="950" dirty="0"/>
          </a:p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Increased visibility into cash flow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80099" y="4151376"/>
            <a:ext cx="2172614" cy="4572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/>
        </p:spPr>
      </p:sp>
      <p:sp>
        <p:nvSpPr>
          <p:cNvPr id="28" name="Text 25"/>
          <p:cNvSpPr/>
          <p:nvPr/>
        </p:nvSpPr>
        <p:spPr>
          <a:xfrm>
            <a:off x="6389827" y="419709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100s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389827" y="4407408"/>
            <a:ext cx="1989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of admin hours saved annually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sign system/Logo/Cleartax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Measuring the Impact of E-Invoicing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8406" y="1691640"/>
            <a:ext cx="39355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4438" y="1874520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Invoice Processing Cost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7278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$15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4438" y="2560320"/>
            <a:ext cx="502920" cy="7772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Text 6"/>
          <p:cNvSpPr/>
          <p:nvPr/>
        </p:nvSpPr>
        <p:spPr>
          <a:xfrm>
            <a:off x="581558" y="3410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Paper Process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087575" y="26487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$8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24735" y="2923032"/>
            <a:ext cx="502920" cy="41452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9"/>
          <p:cNvSpPr/>
          <p:nvPr/>
        </p:nvSpPr>
        <p:spPr>
          <a:xfrm>
            <a:off x="2041855" y="3410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PDF Email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47872" y="2959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$2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85032" y="3233928"/>
            <a:ext cx="502920" cy="103632"/>
          </a:xfrm>
          <a:prstGeom prst="rect">
            <a:avLst/>
          </a:prstGeom>
          <a:solidFill>
            <a:srgbClr val="3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3502152" y="3410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E-Invoicing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4438" y="3337560"/>
            <a:ext cx="3423514" cy="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0016" y="1691640"/>
            <a:ext cx="39355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1874520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Average Processing Time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56048" y="3337560"/>
            <a:ext cx="3423514" cy="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57216" y="2606040"/>
            <a:ext cx="1510589" cy="320040"/>
          </a:xfrm>
          <a:prstGeom prst="line">
            <a:avLst/>
          </a:prstGeom>
          <a:noFill/>
          <a:ln w="31750">
            <a:solidFill>
              <a:srgbClr val="335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67805" y="2926080"/>
            <a:ext cx="1510589" cy="274320"/>
          </a:xfrm>
          <a:prstGeom prst="line">
            <a:avLst/>
          </a:prstGeom>
          <a:noFill/>
          <a:ln w="31750">
            <a:solidFill>
              <a:srgbClr val="3355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02352" y="2551176"/>
            <a:ext cx="109728" cy="109728"/>
          </a:xfrm>
          <a:prstGeom prst="ellipse">
            <a:avLst/>
          </a:prstGeom>
          <a:solidFill>
            <a:srgbClr val="3355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0016" y="22951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10 Days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654296" y="3410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Manual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612941" y="2871216"/>
            <a:ext cx="109728" cy="109728"/>
          </a:xfrm>
          <a:prstGeom prst="ellipse">
            <a:avLst/>
          </a:prstGeom>
          <a:solidFill>
            <a:srgbClr val="3355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0605" y="2615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5 Days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164885" y="3410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Digital PDF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23530" y="3145536"/>
            <a:ext cx="109728" cy="109728"/>
          </a:xfrm>
          <a:prstGeom prst="ellipse">
            <a:avLst/>
          </a:prstGeom>
          <a:solidFill>
            <a:srgbClr val="3355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21194" y="28895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 Day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675474" y="3410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E-Invoicing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8406" y="3977640"/>
            <a:ext cx="253837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8406" y="4032504"/>
            <a:ext cx="2538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95%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08406" y="4379976"/>
            <a:ext cx="25383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Compliance Accuracy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302813" y="3977640"/>
            <a:ext cx="253837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02813" y="4032504"/>
            <a:ext cx="2538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70%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3302813" y="4379976"/>
            <a:ext cx="25383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Faster Processing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097219" y="3977640"/>
            <a:ext cx="253837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97219" y="4032504"/>
            <a:ext cx="2538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60%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6097219" y="4379976"/>
            <a:ext cx="25383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Reduction in Manual Work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sign system/Logo/Cleartax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A Typical E-Invoicing Rollout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8406" y="1691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Four phases take most organizations from first assessment to a fully live, monitored rollout.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524305" y="2308860"/>
            <a:ext cx="609539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2845" y="2057400"/>
            <a:ext cx="502920" cy="502920"/>
          </a:xfrm>
          <a:prstGeom prst="ellipse">
            <a:avLst/>
          </a:prstGeom>
          <a:solidFill>
            <a:srgbClr val="3355FF"/>
          </a:solidFill>
          <a:ln/>
        </p:spPr>
      </p:sp>
      <p:sp>
        <p:nvSpPr>
          <p:cNvPr id="8" name="Text 5"/>
          <p:cNvSpPr/>
          <p:nvPr/>
        </p:nvSpPr>
        <p:spPr>
          <a:xfrm>
            <a:off x="1272845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3270" y="268833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3270" y="2889504"/>
            <a:ext cx="1812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3270" y="3200400"/>
            <a:ext cx="18123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Review ERP systems, invoice formats, compliance requirements, and stakeholders.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04642" y="2057400"/>
            <a:ext cx="502920" cy="502920"/>
          </a:xfrm>
          <a:prstGeom prst="ellipse">
            <a:avLst/>
          </a:prstGeom>
          <a:solidFill>
            <a:srgbClr val="3355FF"/>
          </a:solidFill>
          <a:ln/>
        </p:spPr>
      </p:sp>
      <p:sp>
        <p:nvSpPr>
          <p:cNvPr id="13" name="Text 10"/>
          <p:cNvSpPr/>
          <p:nvPr/>
        </p:nvSpPr>
        <p:spPr>
          <a:xfrm>
            <a:off x="330464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🔗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95067" y="268833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95067" y="2889504"/>
            <a:ext cx="1812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595067" y="3200400"/>
            <a:ext cx="18123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Connect the ERP with the e-invoicing platform and the tax authority.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36438" y="2057400"/>
            <a:ext cx="502920" cy="502920"/>
          </a:xfrm>
          <a:prstGeom prst="ellipse">
            <a:avLst/>
          </a:prstGeom>
          <a:solidFill>
            <a:srgbClr val="3355FF"/>
          </a:solidFill>
          <a:ln/>
        </p:spPr>
      </p:sp>
      <p:sp>
        <p:nvSpPr>
          <p:cNvPr id="18" name="Text 15"/>
          <p:cNvSpPr/>
          <p:nvPr/>
        </p:nvSpPr>
        <p:spPr>
          <a:xfrm>
            <a:off x="533643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🧪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26864" y="268833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26864" y="2889504"/>
            <a:ext cx="1812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Testing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26864" y="3200400"/>
            <a:ext cx="18123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Validate invoice formats, approval workflows, reporting, and integrations.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368235" y="2057400"/>
            <a:ext cx="502920" cy="502920"/>
          </a:xfrm>
          <a:prstGeom prst="ellipse">
            <a:avLst/>
          </a:prstGeom>
          <a:solidFill>
            <a:srgbClr val="3355FF"/>
          </a:solidFill>
          <a:ln/>
        </p:spPr>
      </p:sp>
      <p:sp>
        <p:nvSpPr>
          <p:cNvPr id="23" name="Text 20"/>
          <p:cNvSpPr/>
          <p:nvPr/>
        </p:nvSpPr>
        <p:spPr>
          <a:xfrm>
            <a:off x="7368235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🚀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658661" y="268833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Phase 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58661" y="2889504"/>
            <a:ext cx="1812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Go Live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658661" y="3200400"/>
            <a:ext cx="18123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Deploy, monitor, optimize, and train finance teams.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8406" y="429768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D6DDFF"/>
          </a:solidFill>
          <a:ln/>
        </p:spPr>
      </p:sp>
      <p:sp>
        <p:nvSpPr>
          <p:cNvPr id="28" name="Text 25"/>
          <p:cNvSpPr/>
          <p:nvPr/>
        </p:nvSpPr>
        <p:spPr>
          <a:xfrm>
            <a:off x="691286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44CC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⏱️  </a:t>
            </a:r>
            <a:pPr indent="0" marL="0">
              <a:buNone/>
            </a:pPr>
            <a:r>
              <a:rPr lang="en-US" sz="1150" b="1" dirty="0">
                <a:solidFill>
                  <a:srgbClr val="2944CC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Typical implementation takes approximately 6–12 weeks, depending on ERP complexity.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35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sign system/Logo/Cleartax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Why Businesses Should Act Now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8406" y="1783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2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Governments continue expanding e-invoicing mandates worldwide. Organizations that modernize now benefit from: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8406" y="23317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Lower operational costs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Improved tax compliance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Faster payment cycles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Better supplier relationships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Future-ready finance operations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8406" y="37673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Prepare your organization before regulatory deadlines arrive.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8406" y="415137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08406" y="41513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Talk to an expert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8406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Questions &amp; Discussion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20840" y="2011680"/>
            <a:ext cx="914" cy="105156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20840" y="3063240"/>
            <a:ext cx="1051560" cy="91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0840" y="3063240"/>
            <a:ext cx="914" cy="105156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3063240"/>
            <a:ext cx="1051560" cy="91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7376" y="1728216"/>
            <a:ext cx="566928" cy="566928"/>
          </a:xfrm>
          <a:prstGeom prst="ellipse">
            <a:avLst/>
          </a:prstGeom>
          <a:solidFill>
            <a:srgbClr val="3355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37376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🖥️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26480" y="23500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ERP Systems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88936" y="2779776"/>
            <a:ext cx="566928" cy="566928"/>
          </a:xfrm>
          <a:prstGeom prst="ellipse">
            <a:avLst/>
          </a:prstGeom>
          <a:solidFill>
            <a:srgbClr val="3355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88936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🏢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178040" y="3401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Suppliers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37376" y="3831336"/>
            <a:ext cx="566928" cy="566928"/>
          </a:xfrm>
          <a:prstGeom prst="ellipse">
            <a:avLst/>
          </a:prstGeom>
          <a:solidFill>
            <a:srgbClr val="3355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7376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👤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26480" y="4453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85816" y="2779776"/>
            <a:ext cx="566928" cy="566928"/>
          </a:xfrm>
          <a:prstGeom prst="ellipse">
            <a:avLst/>
          </a:prstGeom>
          <a:solidFill>
            <a:srgbClr val="3355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85816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🏛️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074920" y="3401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Tax Authorities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355080" y="269748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F3399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5508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55FF"/>
                </a:solidFill>
              </a:rPr>
              <a:t>🔗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035040" y="3465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e-Invoicing Platform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Business Case for E-Invoicing</dc:title>
  <dc:subject>PptxGenJS Presentation</dc:subject>
  <dc:creator>Cleartax</dc:creator>
  <cp:lastModifiedBy>Cleartax</cp:lastModifiedBy>
  <cp:revision>1</cp:revision>
  <dcterms:created xsi:type="dcterms:W3CDTF">2026-07-10T18:49:18Z</dcterms:created>
  <dcterms:modified xsi:type="dcterms:W3CDTF">2026-07-10T18:49:18Z</dcterms:modified>
</cp:coreProperties>
</file>