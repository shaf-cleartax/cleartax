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848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14350"/>
            <a:ext cx="38100" cy="590550"/>
          </a:xfrm>
          <a:prstGeom prst="rect">
            <a:avLst/>
          </a:prstGeom>
          <a:solidFill>
            <a:srgbClr val="33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628650"/>
            <a:ext cx="6667500" cy="3238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11827"/>
                </a:solidFill>
                <a:latin typeface="Host Grotesk"/>
              </a:rPr>
              <a:t>Spain’s E-Invoicing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914400"/>
            <a:ext cx="6858000" cy="190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>
                <a:solidFill>
                  <a:srgbClr val="6B7280"/>
                </a:solidFill>
                <a:latin typeface="Host Grotesk"/>
              </a:rPr>
              <a:t>How an invoice moves from the supplier to the SPFE and on to the buyer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04900"/>
            <a:ext cx="6858000" cy="190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>
                <a:solidFill>
                  <a:srgbClr val="6B7280"/>
                </a:solidFill>
                <a:latin typeface="Host Grotesk"/>
              </a:rPr>
              <a:t>plus payment-status reporting back to the platform.</a:t>
            </a:r>
          </a:p>
        </p:txBody>
      </p:sp>
      <p:pic>
        <p:nvPicPr>
          <p:cNvPr id="6" name="Picture 5" descr="Cleartax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552450"/>
            <a:ext cx="1257300" cy="285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1619250"/>
            <a:ext cx="2228850" cy="3905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3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5350" y="1790700"/>
            <a:ext cx="1905000" cy="190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1">
                <a:solidFill>
                  <a:srgbClr val="111827"/>
                </a:solidFill>
                <a:latin typeface="Host Grotesk"/>
              </a:rPr>
              <a:t>1 · SUPPLIER (issuer)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1981200"/>
            <a:ext cx="1905000" cy="171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2" b="0">
                <a:solidFill>
                  <a:srgbClr val="6B7280"/>
                </a:solidFill>
                <a:latin typeface="Host Grotesk"/>
              </a:rPr>
              <a:t>Everything happens in the sender’s stack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5350" y="2209800"/>
            <a:ext cx="1809750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95350" y="2324100"/>
            <a:ext cx="1809750" cy="74295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400300"/>
            <a:ext cx="1571625" cy="171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12" b="1">
                <a:solidFill>
                  <a:srgbClr val="111827"/>
                </a:solidFill>
                <a:latin typeface="Host Grotesk"/>
              </a:rPr>
              <a:t>Build invoice — UBL 2.5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2609850"/>
            <a:ext cx="1571625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280"/>
                </a:solidFill>
                <a:latin typeface="Host Grotesk"/>
              </a:rPr>
              <a:t>EN 16931:2026 · unique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2762250"/>
            <a:ext cx="1571625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280"/>
                </a:solidFill>
                <a:latin typeface="Host Grotesk"/>
              </a:rPr>
              <a:t>(NIF+series+no.+date)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50" y="3162300"/>
            <a:ext cx="1809750" cy="57150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238500"/>
            <a:ext cx="1571625" cy="171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12" b="1">
                <a:solidFill>
                  <a:srgbClr val="111827"/>
                </a:solidFill>
                <a:latin typeface="Host Grotesk"/>
              </a:rPr>
              <a:t>XSD validation (syntax)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3448050"/>
            <a:ext cx="1571625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280"/>
                </a:solidFill>
                <a:latin typeface="Host Grotesk"/>
              </a:rPr>
              <a:t>OASIS UBL schemas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50" y="3829050"/>
            <a:ext cx="1809750" cy="74295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" y="3886200"/>
            <a:ext cx="1571625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12" b="1">
                <a:solidFill>
                  <a:srgbClr val="111827"/>
                </a:solidFill>
                <a:latin typeface="Host Grotesk"/>
              </a:rPr>
              <a:t>Schematron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4038600"/>
            <a:ext cx="1571625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12" b="1">
                <a:solidFill>
                  <a:srgbClr val="111827"/>
                </a:solidFill>
                <a:latin typeface="Host Grotesk"/>
              </a:rPr>
              <a:t>(rules)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4229100"/>
            <a:ext cx="1571625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280"/>
                </a:solidFill>
                <a:latin typeface="Host Grotesk"/>
              </a:rPr>
              <a:t>EN 16931 business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4381500"/>
            <a:ext cx="1571625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280"/>
                </a:solidFill>
                <a:latin typeface="Host Grotesk"/>
              </a:rPr>
              <a:t>· 2026 artefacts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50" y="4667250"/>
            <a:ext cx="1809750" cy="571500"/>
          </a:xfrm>
          <a:prstGeom prst="roundRect">
            <a:avLst>
              <a:gd name="adj" fmla="val 12000"/>
            </a:avLst>
          </a:prstGeom>
          <a:solidFill>
            <a:srgbClr val="FFE6CC"/>
          </a:solidFill>
          <a:ln w="19050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028700" y="4838700"/>
            <a:ext cx="152400" cy="152400"/>
          </a:xfrm>
          <a:prstGeom prst="triangle">
            <a:avLst/>
          </a:prstGeom>
          <a:noFill/>
          <a:ln w="15240">
            <a:solidFill>
              <a:srgbClr val="994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994D00"/>
                </a:solidFill>
                <a:latin typeface="Host Grotesk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7300" y="4781550"/>
            <a:ext cx="1381125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994D00"/>
                </a:solidFill>
                <a:latin typeface="Host Grotesk"/>
              </a:rPr>
              <a:t>Validate at sender 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7300" y="4914900"/>
            <a:ext cx="1381125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7" b="1">
                <a:solidFill>
                  <a:srgbClr val="994D00"/>
                </a:solidFill>
                <a:latin typeface="Host Grotesk"/>
              </a:rPr>
              <a:t>no AEAT validator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2350" y="1657350"/>
            <a:ext cx="2476500" cy="190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1">
                <a:solidFill>
                  <a:srgbClr val="111827"/>
                </a:solidFill>
                <a:latin typeface="Host Grotesk"/>
              </a:rPr>
              <a:t>Choose an exchange path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2350" y="1905000"/>
            <a:ext cx="2476500" cy="1866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3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52850" y="2019300"/>
            <a:ext cx="2095500" cy="171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12" b="1">
                <a:solidFill>
                  <a:srgbClr val="111827"/>
                </a:solidFill>
                <a:latin typeface="Host Grotesk"/>
              </a:rPr>
              <a:t>PATH A — Private platform(s)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52850" y="2228850"/>
            <a:ext cx="2095500" cy="571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4151"/>
                </a:solidFill>
                <a:latin typeface="Host Grotesk"/>
              </a:rPr>
              <a:t>Interconnected private platforms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374151"/>
                </a:solidFill>
                <a:latin typeface="Host Grotesk"/>
              </a:rPr>
              <a:t>exchange the invoice (any agreed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374151"/>
                </a:solidFill>
                <a:latin typeface="Host Grotesk"/>
              </a:rPr>
              <a:t>structured format: UBL / CII /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374151"/>
                </a:solidFill>
                <a:latin typeface="Host Grotesk"/>
              </a:rPr>
              <a:t>EDIFACT / Facturae).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752850" y="2933700"/>
            <a:ext cx="2095500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752850" y="3009900"/>
            <a:ext cx="2095500" cy="3238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994D00"/>
                </a:solidFill>
                <a:latin typeface="Host Grotesk"/>
              </a:rPr>
              <a:t>Must deposit UBL "copia fiel"</a:t>
            </a:r>
          </a:p>
          <a:p>
            <a:pPr algn="l">
              <a:lnSpc>
                <a:spcPct val="115000"/>
              </a:lnSpc>
            </a:pPr>
            <a:r>
              <a:rPr sz="937" b="1">
                <a:solidFill>
                  <a:srgbClr val="994D00"/>
                </a:solidFill>
                <a:latin typeface="Host Grotesk"/>
              </a:rPr>
              <a:t>to SPFE at issuance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52850" y="3371850"/>
            <a:ext cx="2095500" cy="3238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280"/>
                </a:solidFill>
                <a:latin typeface="Host Grotesk"/>
              </a:rPr>
              <a:t>CopyIndicator = true (copy) /</a:t>
            </a:r>
          </a:p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280"/>
                </a:solidFill>
                <a:latin typeface="Host Grotesk"/>
              </a:rPr>
              <a:t>false (original)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2350" y="4400550"/>
            <a:ext cx="2476500" cy="14287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52850" y="4514850"/>
            <a:ext cx="2095500" cy="171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12" b="1">
                <a:solidFill>
                  <a:srgbClr val="111827"/>
                </a:solidFill>
                <a:latin typeface="Host Grotesk"/>
              </a:rPr>
              <a:t>PATH B — SPFE direct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52850" y="4724400"/>
            <a:ext cx="2095500" cy="571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4151"/>
                </a:solidFill>
                <a:latin typeface="Host Grotesk"/>
              </a:rPr>
              <a:t>Issue straight through the public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374151"/>
                </a:solidFill>
                <a:latin typeface="Host Grotesk"/>
              </a:rPr>
              <a:t>platform: web form (one-by-one)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374151"/>
                </a:solidFill>
                <a:latin typeface="Host Grotesk"/>
              </a:rPr>
              <a:t>or web services.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52850" y="5276850"/>
            <a:ext cx="209550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280"/>
                </a:solidFill>
                <a:latin typeface="Host Grotesk"/>
              </a:rPr>
              <a:t>UBL 2.5 only · free of charge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77050" y="1905000"/>
            <a:ext cx="2381250" cy="3924300"/>
          </a:xfrm>
          <a:prstGeom prst="roundRect">
            <a:avLst>
              <a:gd name="adj" fmla="val 8000"/>
            </a:avLst>
          </a:prstGeom>
          <a:solidFill>
            <a:srgbClr val="33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05650" y="2038350"/>
            <a:ext cx="2000250" cy="2095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ost Grotesk"/>
              </a:rPr>
              <a:t>SPFE — Public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5650" y="2266950"/>
            <a:ext cx="200025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D6DDFF"/>
                </a:solidFill>
                <a:latin typeface="Host Grotesk"/>
              </a:rPr>
              <a:t>Run by AEAT (tax authority)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05650" y="2495550"/>
            <a:ext cx="1676400" cy="0"/>
          </a:xfrm>
          <a:prstGeom prst="line">
            <a:avLst/>
          </a:prstGeom>
          <a:ln w="9525">
            <a:solidFill>
              <a:srgbClr val="5C7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122795" y="2607945"/>
            <a:ext cx="41910" cy="4191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58050" y="2590800"/>
            <a:ext cx="180975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2" b="0">
                <a:solidFill>
                  <a:srgbClr val="FFFFFF"/>
                </a:solidFill>
                <a:latin typeface="Host Grotesk"/>
              </a:rPr>
              <a:t>Universal repository (every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58050" y="2743200"/>
            <a:ext cx="180975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2" b="0">
                <a:solidFill>
                  <a:srgbClr val="FFFFFF"/>
                </a:solidFill>
                <a:latin typeface="Host Grotesk"/>
              </a:rPr>
              <a:t>invoice lands here)</a:t>
            </a:r>
          </a:p>
        </p:txBody>
      </p:sp>
      <p:sp>
        <p:nvSpPr>
          <p:cNvPr id="45" name="Oval 44"/>
          <p:cNvSpPr/>
          <p:nvPr/>
        </p:nvSpPr>
        <p:spPr>
          <a:xfrm>
            <a:off x="7122795" y="2950845"/>
            <a:ext cx="41910" cy="4191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58050" y="2933700"/>
            <a:ext cx="180975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2" b="0">
                <a:solidFill>
                  <a:srgbClr val="FFFFFF"/>
                </a:solidFill>
                <a:latin typeface="Host Grotesk"/>
              </a:rPr>
              <a:t>Free issuing / receiving solution</a:t>
            </a:r>
          </a:p>
        </p:txBody>
      </p:sp>
      <p:sp>
        <p:nvSpPr>
          <p:cNvPr id="47" name="Oval 46"/>
          <p:cNvSpPr/>
          <p:nvPr/>
        </p:nvSpPr>
        <p:spPr>
          <a:xfrm>
            <a:off x="7122795" y="3141345"/>
            <a:ext cx="41910" cy="4191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8050" y="3124200"/>
            <a:ext cx="180975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2" b="0">
                <a:solidFill>
                  <a:srgbClr val="FFFFFF"/>
                </a:solidFill>
                <a:latin typeface="Host Grotesk"/>
              </a:rPr>
              <a:t>Interconnection between platforms</a:t>
            </a:r>
          </a:p>
        </p:txBody>
      </p:sp>
      <p:sp>
        <p:nvSpPr>
          <p:cNvPr id="49" name="Oval 48"/>
          <p:cNvSpPr/>
          <p:nvPr/>
        </p:nvSpPr>
        <p:spPr>
          <a:xfrm>
            <a:off x="7122795" y="3331845"/>
            <a:ext cx="41910" cy="4191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58050" y="3314700"/>
            <a:ext cx="180975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2" b="0">
                <a:solidFill>
                  <a:srgbClr val="FFFFFF"/>
                </a:solidFill>
                <a:latin typeface="Host Grotesk"/>
              </a:rPr>
              <a:t>Payment-status register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05650" y="4191000"/>
            <a:ext cx="1924050" cy="781050"/>
          </a:xfrm>
          <a:prstGeom prst="roundRect">
            <a:avLst>
              <a:gd name="adj" fmla="val 14000"/>
            </a:avLst>
          </a:prstGeom>
          <a:solidFill>
            <a:srgbClr val="294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05650" y="4343400"/>
            <a:ext cx="192405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62" b="0">
                <a:solidFill>
                  <a:srgbClr val="FFFFFF"/>
                </a:solidFill>
                <a:latin typeface="Host Grotesk"/>
              </a:rPr>
              <a:t>Auto-rejects duplicate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05650" y="4495800"/>
            <a:ext cx="192405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62" b="0">
                <a:solidFill>
                  <a:srgbClr val="FFFFFF"/>
                </a:solidFill>
                <a:latin typeface="Host Grotesk"/>
              </a:rPr>
              <a:t>unique codes. On accept 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5650" y="4648200"/>
            <a:ext cx="192405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62" b="0">
                <a:solidFill>
                  <a:srgbClr val="FFFFFF"/>
                </a:solidFill>
                <a:latin typeface="Host Grotesk"/>
              </a:rPr>
              <a:t>returns CSV acknowledgement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15550" y="1905000"/>
            <a:ext cx="2000250" cy="2438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06050" y="2019300"/>
            <a:ext cx="1714500" cy="171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12" b="1">
                <a:solidFill>
                  <a:srgbClr val="111827"/>
                </a:solidFill>
                <a:latin typeface="Host Grotesk"/>
              </a:rPr>
              <a:t>BUYER (recipient)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06050" y="2228850"/>
            <a:ext cx="1714500" cy="3238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4151"/>
                </a:solidFill>
                <a:latin typeface="Host Grotesk"/>
              </a:rPr>
              <a:t>Receives via its platform or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374151"/>
                </a:solidFill>
                <a:latin typeface="Host Grotesk"/>
              </a:rPr>
              <a:t>the SPFE.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06050" y="2552700"/>
            <a:ext cx="1714500" cy="3238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4151"/>
                </a:solidFill>
                <a:latin typeface="Host Grotesk"/>
              </a:rPr>
              <a:t>Platform must auto-retrieve &amp;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374151"/>
                </a:solidFill>
                <a:latin typeface="Host Grotesk"/>
              </a:rPr>
              <a:t>make available.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0306050" y="2952750"/>
            <a:ext cx="1619250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306050" y="3028950"/>
            <a:ext cx="1714500" cy="171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37" b="1">
                <a:solidFill>
                  <a:srgbClr val="994D00"/>
                </a:solidFill>
                <a:latin typeface="Host Grotesk"/>
              </a:rPr>
              <a:t>Silence = acceptance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06050" y="3219450"/>
            <a:ext cx="1714500" cy="3238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280"/>
                </a:solidFill>
                <a:latin typeface="Host Grotesk"/>
              </a:rPr>
              <a:t>(invoice not rejected is</a:t>
            </a:r>
          </a:p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280"/>
                </a:solidFill>
                <a:latin typeface="Host Grotesk"/>
              </a:rPr>
              <a:t>presumed accepted)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06050" y="3543300"/>
            <a:ext cx="1714500" cy="3238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280"/>
                </a:solidFill>
                <a:latin typeface="Host Grotesk"/>
              </a:rPr>
              <a:t>Retrieval requires registered</a:t>
            </a:r>
          </a:p>
          <a:p>
            <a:pPr algn="l">
              <a:lnSpc>
                <a:spcPct val="115000"/>
              </a:lnSpc>
            </a:pPr>
            <a:r>
              <a:rPr sz="787" b="0">
                <a:solidFill>
                  <a:srgbClr val="6B7280"/>
                </a:solidFill>
                <a:latin typeface="Host Grotesk"/>
              </a:rPr>
              <a:t>apoderamiento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562350" y="6591300"/>
            <a:ext cx="8553450" cy="1428750"/>
          </a:xfrm>
          <a:prstGeom prst="roundRect">
            <a:avLst>
              <a:gd name="adj" fmla="val 10000"/>
            </a:avLst>
          </a:prstGeom>
          <a:solidFill>
            <a:srgbClr val="FFE6CC"/>
          </a:solidFill>
          <a:ln w="19050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90950" y="6743700"/>
            <a:ext cx="3810000" cy="190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1">
                <a:solidFill>
                  <a:srgbClr val="994D00"/>
                </a:solidFill>
                <a:latin typeface="Host Grotesk"/>
              </a:rPr>
              <a:t>Status &amp; payment reporting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0950" y="6991350"/>
            <a:ext cx="247650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12" b="1">
                <a:solidFill>
                  <a:srgbClr val="111827"/>
                </a:solidFill>
                <a:latin typeface="Host Grotesk"/>
              </a:rPr>
              <a:t>Recipient (mandatory):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0950" y="7162800"/>
            <a:ext cx="666750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4151"/>
                </a:solidFill>
                <a:latin typeface="Host Grotesk"/>
              </a:rPr>
              <a:t>rejection · payment due date · date paid in full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90950" y="7391400"/>
            <a:ext cx="247650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12" b="1">
                <a:solidFill>
                  <a:srgbClr val="111827"/>
                </a:solidFill>
                <a:latin typeface="Host Grotesk"/>
              </a:rPr>
              <a:t>Issuer (optional):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0950" y="7562850"/>
            <a:ext cx="666750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4151"/>
                </a:solidFill>
                <a:latin typeface="Host Grotesk"/>
              </a:rPr>
              <a:t>collected · unpaid · differences vs. buyer dates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90950" y="7753350"/>
            <a:ext cx="666750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7" b="0">
                <a:solidFill>
                  <a:srgbClr val="994D00"/>
                </a:solidFill>
                <a:latin typeface="Host Grotesk"/>
              </a:rPr>
              <a:t>UBL ApplicationResponse / DocumentStatus → CSV ack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914650" y="3571875"/>
            <a:ext cx="323850" cy="0"/>
          </a:xfrm>
          <a:prstGeom prst="line">
            <a:avLst/>
          </a:prstGeom>
          <a:ln w="19050">
            <a:solidFill>
              <a:srgbClr val="335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238500" y="2838450"/>
            <a:ext cx="0" cy="2276475"/>
          </a:xfrm>
          <a:prstGeom prst="line">
            <a:avLst/>
          </a:prstGeom>
          <a:ln w="19050">
            <a:solidFill>
              <a:srgbClr val="335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238500" y="2838450"/>
            <a:ext cx="323850" cy="0"/>
          </a:xfrm>
          <a:prstGeom prst="line">
            <a:avLst/>
          </a:prstGeom>
          <a:ln w="19050">
            <a:solidFill>
              <a:srgbClr val="3355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238500" y="5114925"/>
            <a:ext cx="323850" cy="0"/>
          </a:xfrm>
          <a:prstGeom prst="line">
            <a:avLst/>
          </a:prstGeom>
          <a:ln w="19050">
            <a:solidFill>
              <a:srgbClr val="3355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038850" y="2838450"/>
            <a:ext cx="800100" cy="0"/>
          </a:xfrm>
          <a:prstGeom prst="line">
            <a:avLst/>
          </a:prstGeom>
          <a:ln w="19050">
            <a:solidFill>
              <a:srgbClr val="FF8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057900" y="2628900"/>
            <a:ext cx="76200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994D00"/>
                </a:solidFill>
                <a:latin typeface="Host Grotesk"/>
              </a:rPr>
              <a:t>copia fiel</a:t>
            </a:r>
          </a:p>
        </p:txBody>
      </p:sp>
      <p:cxnSp>
        <p:nvCxnSpPr>
          <p:cNvPr id="76" name="Connector 75"/>
          <p:cNvCxnSpPr/>
          <p:nvPr/>
        </p:nvCxnSpPr>
        <p:spPr>
          <a:xfrm flipV="1">
            <a:off x="6038850" y="4638675"/>
            <a:ext cx="838200" cy="476250"/>
          </a:xfrm>
          <a:prstGeom prst="line">
            <a:avLst/>
          </a:prstGeom>
          <a:ln w="19050">
            <a:solidFill>
              <a:srgbClr val="3355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057900" y="4791075"/>
            <a:ext cx="76200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994D00"/>
                </a:solidFill>
                <a:latin typeface="Host Grotesk"/>
              </a:rPr>
              <a:t>origin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258300" y="2171700"/>
            <a:ext cx="819150" cy="0"/>
          </a:xfrm>
          <a:prstGeom prst="line">
            <a:avLst/>
          </a:prstGeom>
          <a:ln w="19050">
            <a:solidFill>
              <a:srgbClr val="FF8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9286875" y="2000250"/>
            <a:ext cx="76200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994D00"/>
                </a:solidFill>
                <a:latin typeface="Host Grotesk"/>
              </a:rPr>
              <a:t>deliver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1115675" y="4343400"/>
            <a:ext cx="0" cy="2209800"/>
          </a:xfrm>
          <a:prstGeom prst="line">
            <a:avLst/>
          </a:prstGeom>
          <a:ln w="19050">
            <a:solidFill>
              <a:srgbClr val="FF8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067675" y="5867400"/>
            <a:ext cx="0" cy="723900"/>
          </a:xfrm>
          <a:prstGeom prst="line">
            <a:avLst/>
          </a:prstGeom>
          <a:ln w="19050">
            <a:solidFill>
              <a:srgbClr val="FF8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686675" y="6134100"/>
            <a:ext cx="3810000" cy="152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87" b="1">
                <a:solidFill>
                  <a:srgbClr val="994D00"/>
                </a:solidFill>
                <a:latin typeface="Host Grotesk"/>
              </a:rPr>
              <a:t>reported to SPFE → late-payment monitoring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85800" y="8705850"/>
            <a:ext cx="121158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52500" y="8886825"/>
            <a:ext cx="95250" cy="95250"/>
          </a:xfrm>
          <a:prstGeom prst="ellipse">
            <a:avLst/>
          </a:prstGeom>
          <a:solidFill>
            <a:srgbClr val="33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43000" y="8848725"/>
            <a:ext cx="3238500" cy="1714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37" b="0">
                <a:solidFill>
                  <a:srgbClr val="374151"/>
                </a:solidFill>
                <a:latin typeface="Host Grotesk"/>
              </a:rPr>
              <a:t>Structured invoice flow (UBL 2.5 / private formats)</a:t>
            </a:r>
          </a:p>
        </p:txBody>
      </p:sp>
      <p:sp>
        <p:nvSpPr>
          <p:cNvPr id="86" name="Oval 85"/>
          <p:cNvSpPr/>
          <p:nvPr/>
        </p:nvSpPr>
        <p:spPr>
          <a:xfrm>
            <a:off x="5019675" y="8886825"/>
            <a:ext cx="95250" cy="95250"/>
          </a:xfrm>
          <a:prstGeom prst="ellipse">
            <a:avLst/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10175" y="8848725"/>
            <a:ext cx="3238500" cy="1714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37" b="0">
                <a:solidFill>
                  <a:srgbClr val="374151"/>
                </a:solidFill>
                <a:latin typeface="Host Grotesk"/>
              </a:rPr>
              <a:t>Compliance &amp; status reporting to the SPFE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34425" y="8886825"/>
            <a:ext cx="95250" cy="95250"/>
          </a:xfrm>
          <a:prstGeom prst="rect">
            <a:avLst/>
          </a:prstGeom>
          <a:solidFill>
            <a:srgbClr val="FFE6CC"/>
          </a:solidFill>
          <a:ln w="12700">
            <a:solidFill>
              <a:srgbClr val="FF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24925" y="8848725"/>
            <a:ext cx="3238500" cy="1714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37" b="0">
                <a:solidFill>
                  <a:srgbClr val="374151"/>
                </a:solidFill>
                <a:latin typeface="Host Grotesk"/>
              </a:rPr>
              <a:t>Mandatory compliance checkpoint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