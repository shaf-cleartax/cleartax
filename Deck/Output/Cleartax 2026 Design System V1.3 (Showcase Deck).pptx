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Picture 2" descr="dotgrid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0"/>
            <a:ext cx="4023360" cy="6858000"/>
          </a:xfrm>
          <a:prstGeom prst="rect">
            <a:avLst/>
          </a:prstGeom>
        </p:spPr>
      </p:pic>
      <p:pic>
        <p:nvPicPr>
          <p:cNvPr id="3" name="Picture 3" descr="Cleartax-logo-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822960"/>
            <a:ext cx="4206240" cy="956566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685800" y="3246120"/>
            <a:ext cx="7772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5022A"/>
                </a:solidFill>
                <a:latin typeface="PP Neue Montreal"/>
              </a:rPr>
              <a:t>Brand &amp; Design System Showcase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5800" y="379476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B5B6B"/>
                </a:solidFill>
                <a:latin typeface="PP Neue Montreal Text"/>
              </a:rPr>
              <a:t>A tour of the Cleartax rebrand visual language: color, typography, shape, iconography,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B5B6B"/>
                </a:solidFill>
                <a:latin typeface="PP Neue Montreal Text"/>
              </a:rPr>
              <a:t>interactive elements, illustration, and how it all shows up in real work.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5800" y="58064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5022A"/>
                </a:solidFill>
                <a:latin typeface="PP Neue Montreal"/>
              </a:rPr>
              <a:t>2026 Design System </a:t>
            </a:r>
          </a:p>
        </p:txBody>
      </p:sp>
      <p:sp>
        <p:nvSpPr>
          <p:cNvPr id="7" name="Rounded Rectangle 7"/>
          <p:cNvSpPr/>
          <p:nvPr/>
        </p:nvSpPr>
        <p:spPr>
          <a:xfrm>
            <a:off x="3246120" y="5788152"/>
            <a:ext cx="685800" cy="365760"/>
          </a:xfrm>
          <a:prstGeom prst="roundRect">
            <a:avLst>
              <a:gd name="adj" fmla="val 50000"/>
            </a:avLst>
          </a:prstGeom>
          <a:solidFill>
            <a:srgbClr val="54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00" b="1">
                <a:solidFill>
                  <a:srgbClr val="C8F006"/>
                </a:solidFill>
                <a:latin typeface="PP Neue Montreal"/>
              </a:rPr>
              <a:t>V1.3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2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5022A"/>
                </a:solidFill>
                <a:latin typeface="PP Neue Montreal Text"/>
              </a:rPr>
              <a:t>C O N T E N T S</a:t>
            </a:r>
          </a:p>
        </p:txBody>
      </p:sp>
      <p:pic>
        <p:nvPicPr>
          <p:cNvPr id="10" name="Picture 3" descr="Cleartax-logo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502920"/>
            <a:ext cx="1051560" cy="239141"/>
          </a:xfrm>
          <a:prstGeom prst="rect">
            <a:avLst/>
          </a:prstGeom>
        </p:spPr>
      </p:pic>
      <p:sp>
        <p:nvSpPr>
          <p:cNvPr id="11" name="TextBox 4"/>
          <p:cNvSpPr txBox="1"/>
          <p:nvPr/>
        </p:nvSpPr>
        <p:spPr>
          <a:xfrm>
            <a:off x="685800" y="960120"/>
            <a:ext cx="7315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5022A"/>
                </a:solidFill>
                <a:latin typeface="PP Neue Montreal"/>
              </a:rPr>
              <a:t>What's inside</a:t>
            </a:r>
          </a:p>
        </p:txBody>
      </p:sp>
      <p:sp>
        <p:nvSpPr>
          <p:cNvPr id="12" name="TextBox 5"/>
          <p:cNvSpPr txBox="1"/>
          <p:nvPr/>
        </p:nvSpPr>
        <p:spPr>
          <a:xfrm>
            <a:off x="685800" y="196596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5446FF"/>
                </a:solidFill>
                <a:latin typeface="PP Neue Montreal"/>
              </a:rPr>
              <a:t>01</a:t>
            </a:r>
          </a:p>
        </p:txBody>
      </p:sp>
      <p:sp>
        <p:nvSpPr>
          <p:cNvPr id="13" name="TextBox 6"/>
          <p:cNvSpPr txBox="1"/>
          <p:nvPr/>
        </p:nvSpPr>
        <p:spPr>
          <a:xfrm>
            <a:off x="1325880" y="1938528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5022A"/>
                </a:solidFill>
                <a:latin typeface="PP Neue Montreal"/>
              </a:rPr>
              <a:t>Core Color Palette</a:t>
            </a:r>
          </a:p>
        </p:txBody>
      </p:sp>
      <p:sp>
        <p:nvSpPr>
          <p:cNvPr id="14" name="TextBox 7"/>
          <p:cNvSpPr txBox="1"/>
          <p:nvPr/>
        </p:nvSpPr>
        <p:spPr>
          <a:xfrm>
            <a:off x="1325880" y="2295144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5B6B"/>
                </a:solidFill>
                <a:latin typeface="PP Neue Montreal Text"/>
              </a:rPr>
              <a:t>Primary, accent, and neutral tokens</a:t>
            </a:r>
          </a:p>
        </p:txBody>
      </p:sp>
      <p:sp>
        <p:nvSpPr>
          <p:cNvPr id="15" name="Rectangle 8"/>
          <p:cNvSpPr/>
          <p:nvPr/>
        </p:nvSpPr>
        <p:spPr>
          <a:xfrm>
            <a:off x="1325880" y="2679192"/>
            <a:ext cx="4434840" cy="12700"/>
          </a:xfrm>
          <a:prstGeom prst="rect">
            <a:avLst/>
          </a:prstGeom>
          <a:solidFill>
            <a:srgbClr val="E5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9"/>
          <p:cNvSpPr txBox="1"/>
          <p:nvPr/>
        </p:nvSpPr>
        <p:spPr>
          <a:xfrm>
            <a:off x="685800" y="280720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5446FF"/>
                </a:solidFill>
                <a:latin typeface="PP Neue Montreal"/>
              </a:rPr>
              <a:t>02</a:t>
            </a:r>
          </a:p>
        </p:txBody>
      </p:sp>
      <p:sp>
        <p:nvSpPr>
          <p:cNvPr id="17" name="TextBox 10"/>
          <p:cNvSpPr txBox="1"/>
          <p:nvPr/>
        </p:nvSpPr>
        <p:spPr>
          <a:xfrm>
            <a:off x="1325880" y="2779776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5022A"/>
                </a:solidFill>
                <a:latin typeface="PP Neue Montreal"/>
              </a:rPr>
              <a:t>Color Usage</a:t>
            </a:r>
          </a:p>
        </p:txBody>
      </p:sp>
      <p:sp>
        <p:nvSpPr>
          <p:cNvPr id="18" name="TextBox 11"/>
          <p:cNvSpPr txBox="1"/>
          <p:nvPr/>
        </p:nvSpPr>
        <p:spPr>
          <a:xfrm>
            <a:off x="1325880" y="3136392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5B6B"/>
                </a:solidFill>
                <a:latin typeface="PP Neue Montreal Text"/>
              </a:rPr>
              <a:t>The 50 / 30 / 10 / 10 hierarchy</a:t>
            </a:r>
          </a:p>
        </p:txBody>
      </p:sp>
      <p:sp>
        <p:nvSpPr>
          <p:cNvPr id="19" name="Rectangle 12"/>
          <p:cNvSpPr/>
          <p:nvPr/>
        </p:nvSpPr>
        <p:spPr>
          <a:xfrm>
            <a:off x="1325880" y="3520440"/>
            <a:ext cx="4434840" cy="12700"/>
          </a:xfrm>
          <a:prstGeom prst="rect">
            <a:avLst/>
          </a:prstGeom>
          <a:solidFill>
            <a:srgbClr val="E5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3"/>
          <p:cNvSpPr txBox="1"/>
          <p:nvPr/>
        </p:nvSpPr>
        <p:spPr>
          <a:xfrm>
            <a:off x="685800" y="3648456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5446FF"/>
                </a:solidFill>
                <a:latin typeface="PP Neue Montreal"/>
              </a:rPr>
              <a:t>03</a:t>
            </a:r>
          </a:p>
        </p:txBody>
      </p:sp>
      <p:sp>
        <p:nvSpPr>
          <p:cNvPr id="21" name="TextBox 14"/>
          <p:cNvSpPr txBox="1"/>
          <p:nvPr/>
        </p:nvSpPr>
        <p:spPr>
          <a:xfrm>
            <a:off x="1325880" y="3621024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5022A"/>
                </a:solidFill>
                <a:latin typeface="PP Neue Montreal"/>
              </a:rPr>
              <a:t>Typography Best Practices</a:t>
            </a:r>
          </a:p>
        </p:txBody>
      </p:sp>
      <p:sp>
        <p:nvSpPr>
          <p:cNvPr id="22" name="TextBox 15"/>
          <p:cNvSpPr txBox="1"/>
          <p:nvPr/>
        </p:nvSpPr>
        <p:spPr>
          <a:xfrm>
            <a:off x="1325880" y="3977640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5B6B"/>
                </a:solidFill>
                <a:latin typeface="PP Neue Montreal Text"/>
              </a:rPr>
              <a:t>Guardrails for consistent type</a:t>
            </a:r>
          </a:p>
        </p:txBody>
      </p:sp>
      <p:sp>
        <p:nvSpPr>
          <p:cNvPr id="23" name="TextBox 16"/>
          <p:cNvSpPr txBox="1"/>
          <p:nvPr/>
        </p:nvSpPr>
        <p:spPr>
          <a:xfrm>
            <a:off x="6400800" y="196596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5446FF"/>
                </a:solidFill>
                <a:latin typeface="PP Neue Montreal"/>
              </a:rPr>
              <a:t>04</a:t>
            </a:r>
          </a:p>
        </p:txBody>
      </p:sp>
      <p:sp>
        <p:nvSpPr>
          <p:cNvPr id="24" name="TextBox 17"/>
          <p:cNvSpPr txBox="1"/>
          <p:nvPr/>
        </p:nvSpPr>
        <p:spPr>
          <a:xfrm>
            <a:off x="7040880" y="1938528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5022A"/>
                </a:solidFill>
                <a:latin typeface="PP Neue Montreal"/>
              </a:rPr>
              <a:t>Geometric Shapes</a:t>
            </a:r>
          </a:p>
        </p:txBody>
      </p:sp>
      <p:sp>
        <p:nvSpPr>
          <p:cNvPr id="25" name="TextBox 18"/>
          <p:cNvSpPr txBox="1"/>
          <p:nvPr/>
        </p:nvSpPr>
        <p:spPr>
          <a:xfrm>
            <a:off x="7040880" y="2295144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5B6B"/>
                </a:solidFill>
                <a:latin typeface="PP Neue Montreal Text"/>
              </a:rPr>
              <a:t>Eight shapes, one visual language</a:t>
            </a:r>
          </a:p>
        </p:txBody>
      </p:sp>
      <p:sp>
        <p:nvSpPr>
          <p:cNvPr id="26" name="Rectangle 19"/>
          <p:cNvSpPr/>
          <p:nvPr/>
        </p:nvSpPr>
        <p:spPr>
          <a:xfrm>
            <a:off x="7040880" y="2679192"/>
            <a:ext cx="4434840" cy="12700"/>
          </a:xfrm>
          <a:prstGeom prst="rect">
            <a:avLst/>
          </a:prstGeom>
          <a:solidFill>
            <a:srgbClr val="E5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0"/>
          <p:cNvSpPr txBox="1"/>
          <p:nvPr/>
        </p:nvSpPr>
        <p:spPr>
          <a:xfrm>
            <a:off x="6400800" y="280720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5446FF"/>
                </a:solidFill>
                <a:latin typeface="PP Neue Montreal"/>
              </a:rPr>
              <a:t>05</a:t>
            </a:r>
          </a:p>
        </p:txBody>
      </p:sp>
      <p:sp>
        <p:nvSpPr>
          <p:cNvPr id="28" name="TextBox 21"/>
          <p:cNvSpPr txBox="1"/>
          <p:nvPr/>
        </p:nvSpPr>
        <p:spPr>
          <a:xfrm>
            <a:off x="7040880" y="2779776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5022A"/>
                </a:solidFill>
                <a:latin typeface="PP Neue Montreal"/>
              </a:rPr>
              <a:t>Iconography</a:t>
            </a:r>
          </a:p>
        </p:txBody>
      </p:sp>
      <p:sp>
        <p:nvSpPr>
          <p:cNvPr id="29" name="TextBox 22"/>
          <p:cNvSpPr txBox="1"/>
          <p:nvPr/>
        </p:nvSpPr>
        <p:spPr>
          <a:xfrm>
            <a:off x="7040880" y="3136392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5B6B"/>
                </a:solidFill>
                <a:latin typeface="PP Neue Montreal Text"/>
              </a:rPr>
              <a:t>Minimal line icons on soft-indigo chips</a:t>
            </a:r>
          </a:p>
        </p:txBody>
      </p:sp>
      <p:sp>
        <p:nvSpPr>
          <p:cNvPr id="30" name="Rectangle 23"/>
          <p:cNvSpPr/>
          <p:nvPr/>
        </p:nvSpPr>
        <p:spPr>
          <a:xfrm>
            <a:off x="7040880" y="3520440"/>
            <a:ext cx="4434840" cy="12700"/>
          </a:xfrm>
          <a:prstGeom prst="rect">
            <a:avLst/>
          </a:prstGeom>
          <a:solidFill>
            <a:srgbClr val="E5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24"/>
          <p:cNvSpPr txBox="1"/>
          <p:nvPr/>
        </p:nvSpPr>
        <p:spPr>
          <a:xfrm>
            <a:off x="6400800" y="3648456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5446FF"/>
                </a:solidFill>
                <a:latin typeface="PP Neue Montreal"/>
              </a:rPr>
              <a:t>06</a:t>
            </a:r>
          </a:p>
        </p:txBody>
      </p:sp>
      <p:sp>
        <p:nvSpPr>
          <p:cNvPr id="32" name="TextBox 25"/>
          <p:cNvSpPr txBox="1"/>
          <p:nvPr/>
        </p:nvSpPr>
        <p:spPr>
          <a:xfrm>
            <a:off x="7040880" y="3621024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5022A"/>
                </a:solidFill>
                <a:latin typeface="PP Neue Montreal"/>
              </a:rPr>
              <a:t>Real-World Applications</a:t>
            </a:r>
          </a:p>
        </p:txBody>
      </p:sp>
      <p:sp>
        <p:nvSpPr>
          <p:cNvPr id="33" name="TextBox 26"/>
          <p:cNvSpPr txBox="1"/>
          <p:nvPr/>
        </p:nvSpPr>
        <p:spPr>
          <a:xfrm>
            <a:off x="7040880" y="3977640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5B6B"/>
                </a:solidFill>
                <a:latin typeface="PP Neue Montreal Text"/>
              </a:rPr>
              <a:t>How the system shows up in decks</a:t>
            </a:r>
          </a:p>
        </p:txBody>
      </p:sp>
      <p:sp>
        <p:nvSpPr>
          <p:cNvPr id="34" name="TextBox 27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D8D9A"/>
                </a:solidFill>
                <a:latin typeface="PP Neue Montreal Text"/>
              </a:rPr>
              <a:t>cleartax  ·  2026 Design System V1.3</a:t>
            </a:r>
          </a:p>
        </p:txBody>
      </p:sp>
      <p:sp>
        <p:nvSpPr>
          <p:cNvPr id="35" name="TextBox 28"/>
          <p:cNvSpPr txBox="1"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D8D9A"/>
                </a:solidFill>
                <a:latin typeface="PP Neue Montreal Text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6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2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5022A"/>
                </a:solidFill>
                <a:latin typeface="PP Neue Montreal Text"/>
              </a:rPr>
              <a:t>C O R E   C O L O R   P A L E T T E</a:t>
            </a:r>
          </a:p>
        </p:txBody>
      </p:sp>
      <p:pic>
        <p:nvPicPr>
          <p:cNvPr id="38" name="Picture 3" descr="Cleartax-logo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502920"/>
            <a:ext cx="1051560" cy="239141"/>
          </a:xfrm>
          <a:prstGeom prst="rect">
            <a:avLst/>
          </a:prstGeom>
        </p:spPr>
      </p:pic>
      <p:sp>
        <p:nvSpPr>
          <p:cNvPr id="39" name="TextBox 4"/>
          <p:cNvSpPr txBox="1"/>
          <p:nvPr/>
        </p:nvSpPr>
        <p:spPr>
          <a:xfrm>
            <a:off x="685800" y="886968"/>
            <a:ext cx="6949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B5B6B"/>
                </a:solidFill>
                <a:latin typeface="PP Neue Montreal Text"/>
              </a:rPr>
              <a:t>Our color palette follows a clear hierarchy, with primary colors defining the brand,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B5B6B"/>
                </a:solidFill>
                <a:latin typeface="PP Neue Montreal Text"/>
              </a:rPr>
              <a:t>accent colors highlighting key elements, and neutral colors providing balance.</a:t>
            </a:r>
          </a:p>
        </p:txBody>
      </p:sp>
      <p:sp>
        <p:nvSpPr>
          <p:cNvPr id="40" name="TextBox 5"/>
          <p:cNvSpPr txBox="1"/>
          <p:nvPr/>
        </p:nvSpPr>
        <p:spPr>
          <a:xfrm>
            <a:off x="685800" y="16916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5022A"/>
                </a:solidFill>
                <a:latin typeface="PP Neue Montreal"/>
              </a:rPr>
              <a:t>Primary Colors</a:t>
            </a:r>
          </a:p>
        </p:txBody>
      </p:sp>
      <p:sp>
        <p:nvSpPr>
          <p:cNvPr id="41" name="Oval 6"/>
          <p:cNvSpPr/>
          <p:nvPr/>
        </p:nvSpPr>
        <p:spPr>
          <a:xfrm>
            <a:off x="685800" y="2194560"/>
            <a:ext cx="777240" cy="777240"/>
          </a:xfrm>
          <a:prstGeom prst="ellipse">
            <a:avLst/>
          </a:prstGeom>
          <a:solidFill>
            <a:srgbClr val="050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7"/>
          <p:cNvSpPr txBox="1"/>
          <p:nvPr/>
        </p:nvSpPr>
        <p:spPr>
          <a:xfrm>
            <a:off x="1645920" y="2249424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5022A"/>
                </a:solidFill>
                <a:latin typeface="PP Neue Montreal Text"/>
              </a:rPr>
              <a:t>Deep Midnight Blue</a:t>
            </a:r>
          </a:p>
        </p:txBody>
      </p:sp>
      <p:sp>
        <p:nvSpPr>
          <p:cNvPr id="43" name="TextBox 8"/>
          <p:cNvSpPr txBox="1"/>
          <p:nvPr/>
        </p:nvSpPr>
        <p:spPr>
          <a:xfrm>
            <a:off x="1645920" y="2578608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D8D9A"/>
                </a:solidFill>
                <a:latin typeface="PP Neue Montreal Text"/>
              </a:rPr>
              <a:t>#05022A</a:t>
            </a:r>
          </a:p>
        </p:txBody>
      </p:sp>
      <p:sp>
        <p:nvSpPr>
          <p:cNvPr id="44" name="Oval 9"/>
          <p:cNvSpPr/>
          <p:nvPr/>
        </p:nvSpPr>
        <p:spPr>
          <a:xfrm>
            <a:off x="4892040" y="2194560"/>
            <a:ext cx="777240" cy="777240"/>
          </a:xfrm>
          <a:prstGeom prst="ellipse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10"/>
          <p:cNvSpPr txBox="1"/>
          <p:nvPr/>
        </p:nvSpPr>
        <p:spPr>
          <a:xfrm>
            <a:off x="5852160" y="2249424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5022A"/>
                </a:solidFill>
                <a:latin typeface="PP Neue Montreal Text"/>
              </a:rPr>
              <a:t>Greyish White</a:t>
            </a:r>
          </a:p>
        </p:txBody>
      </p:sp>
      <p:sp>
        <p:nvSpPr>
          <p:cNvPr id="46" name="TextBox 11"/>
          <p:cNvSpPr txBox="1"/>
          <p:nvPr/>
        </p:nvSpPr>
        <p:spPr>
          <a:xfrm>
            <a:off x="5852160" y="2578608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D8D9A"/>
                </a:solidFill>
                <a:latin typeface="PP Neue Montreal Text"/>
              </a:rPr>
              <a:t>#F0F0F0</a:t>
            </a:r>
          </a:p>
        </p:txBody>
      </p:sp>
      <p:sp>
        <p:nvSpPr>
          <p:cNvPr id="47" name="TextBox 12"/>
          <p:cNvSpPr txBox="1"/>
          <p:nvPr/>
        </p:nvSpPr>
        <p:spPr>
          <a:xfrm>
            <a:off x="685800" y="30632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5022A"/>
                </a:solidFill>
                <a:latin typeface="PP Neue Montreal"/>
              </a:rPr>
              <a:t>Accent Colors</a:t>
            </a:r>
          </a:p>
        </p:txBody>
      </p:sp>
      <p:sp>
        <p:nvSpPr>
          <p:cNvPr id="48" name="Oval 13"/>
          <p:cNvSpPr/>
          <p:nvPr/>
        </p:nvSpPr>
        <p:spPr>
          <a:xfrm>
            <a:off x="685800" y="3566160"/>
            <a:ext cx="777240" cy="777240"/>
          </a:xfrm>
          <a:prstGeom prst="ellipse">
            <a:avLst/>
          </a:prstGeom>
          <a:solidFill>
            <a:srgbClr val="C8F0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14"/>
          <p:cNvSpPr txBox="1"/>
          <p:nvPr/>
        </p:nvSpPr>
        <p:spPr>
          <a:xfrm>
            <a:off x="1645920" y="3621024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5022A"/>
                </a:solidFill>
                <a:latin typeface="PP Neue Montreal Text"/>
              </a:rPr>
              <a:t>Electric Lime Green</a:t>
            </a:r>
          </a:p>
        </p:txBody>
      </p:sp>
      <p:sp>
        <p:nvSpPr>
          <p:cNvPr id="50" name="TextBox 15"/>
          <p:cNvSpPr txBox="1"/>
          <p:nvPr/>
        </p:nvSpPr>
        <p:spPr>
          <a:xfrm>
            <a:off x="1645920" y="3950208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D8D9A"/>
                </a:solidFill>
                <a:latin typeface="PP Neue Montreal Text"/>
              </a:rPr>
              <a:t>#C8F006</a:t>
            </a:r>
          </a:p>
        </p:txBody>
      </p:sp>
      <p:sp>
        <p:nvSpPr>
          <p:cNvPr id="51" name="Oval 16"/>
          <p:cNvSpPr/>
          <p:nvPr/>
        </p:nvSpPr>
        <p:spPr>
          <a:xfrm>
            <a:off x="4892040" y="3566160"/>
            <a:ext cx="777240" cy="777240"/>
          </a:xfrm>
          <a:prstGeom prst="ellipse">
            <a:avLst/>
          </a:prstGeom>
          <a:solidFill>
            <a:srgbClr val="54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17"/>
          <p:cNvSpPr txBox="1"/>
          <p:nvPr/>
        </p:nvSpPr>
        <p:spPr>
          <a:xfrm>
            <a:off x="5852160" y="3621024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5022A"/>
                </a:solidFill>
                <a:latin typeface="PP Neue Montreal Text"/>
              </a:rPr>
              <a:t>Blueish Indigo</a:t>
            </a:r>
          </a:p>
        </p:txBody>
      </p:sp>
      <p:sp>
        <p:nvSpPr>
          <p:cNvPr id="53" name="TextBox 18"/>
          <p:cNvSpPr txBox="1"/>
          <p:nvPr/>
        </p:nvSpPr>
        <p:spPr>
          <a:xfrm>
            <a:off x="5852160" y="3950208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D8D9A"/>
                </a:solidFill>
                <a:latin typeface="PP Neue Montreal Text"/>
              </a:rPr>
              <a:t>#5446FF</a:t>
            </a:r>
          </a:p>
        </p:txBody>
      </p:sp>
      <p:sp>
        <p:nvSpPr>
          <p:cNvPr id="54" name="TextBox 19"/>
          <p:cNvSpPr txBox="1"/>
          <p:nvPr/>
        </p:nvSpPr>
        <p:spPr>
          <a:xfrm>
            <a:off x="685800" y="44348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5022A"/>
                </a:solidFill>
                <a:latin typeface="PP Neue Montreal"/>
              </a:rPr>
              <a:t>Neutral Colors</a:t>
            </a:r>
          </a:p>
        </p:txBody>
      </p:sp>
      <p:sp>
        <p:nvSpPr>
          <p:cNvPr id="55" name="Oval 20"/>
          <p:cNvSpPr/>
          <p:nvPr/>
        </p:nvSpPr>
        <p:spPr>
          <a:xfrm>
            <a:off x="685800" y="4937760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21"/>
          <p:cNvSpPr txBox="1"/>
          <p:nvPr/>
        </p:nvSpPr>
        <p:spPr>
          <a:xfrm>
            <a:off x="1645920" y="4992624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5022A"/>
                </a:solidFill>
                <a:latin typeface="PP Neue Montreal Text"/>
              </a:rPr>
              <a:t>Neutral White</a:t>
            </a:r>
          </a:p>
        </p:txBody>
      </p:sp>
      <p:sp>
        <p:nvSpPr>
          <p:cNvPr id="57" name="TextBox 22"/>
          <p:cNvSpPr txBox="1"/>
          <p:nvPr/>
        </p:nvSpPr>
        <p:spPr>
          <a:xfrm>
            <a:off x="1645920" y="5321808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D8D9A"/>
                </a:solidFill>
                <a:latin typeface="PP Neue Montreal Text"/>
              </a:rPr>
              <a:t>#FFFFFF</a:t>
            </a:r>
          </a:p>
        </p:txBody>
      </p:sp>
      <p:sp>
        <p:nvSpPr>
          <p:cNvPr id="58" name="Oval 23"/>
          <p:cNvSpPr/>
          <p:nvPr/>
        </p:nvSpPr>
        <p:spPr>
          <a:xfrm>
            <a:off x="4892040" y="4937760"/>
            <a:ext cx="777240" cy="77724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24"/>
          <p:cNvSpPr txBox="1"/>
          <p:nvPr/>
        </p:nvSpPr>
        <p:spPr>
          <a:xfrm>
            <a:off x="5852160" y="4992624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5022A"/>
                </a:solidFill>
                <a:latin typeface="PP Neue Montreal Text"/>
              </a:rPr>
              <a:t>Neutral Black</a:t>
            </a:r>
          </a:p>
        </p:txBody>
      </p:sp>
      <p:sp>
        <p:nvSpPr>
          <p:cNvPr id="60" name="TextBox 25"/>
          <p:cNvSpPr txBox="1"/>
          <p:nvPr/>
        </p:nvSpPr>
        <p:spPr>
          <a:xfrm>
            <a:off x="5852160" y="5321808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D8D9A"/>
                </a:solidFill>
                <a:latin typeface="PP Neue Montreal Text"/>
              </a:rPr>
              <a:t>#000000</a:t>
            </a:r>
          </a:p>
        </p:txBody>
      </p:sp>
      <p:sp>
        <p:nvSpPr>
          <p:cNvPr id="61" name="TextBox 26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D8D9A"/>
                </a:solidFill>
                <a:latin typeface="PP Neue Montreal Text"/>
              </a:rPr>
              <a:t>cleartax  ·  2026 Design System V1.3</a:t>
            </a:r>
          </a:p>
        </p:txBody>
      </p:sp>
      <p:sp>
        <p:nvSpPr>
          <p:cNvPr id="62" name="TextBox 27"/>
          <p:cNvSpPr txBox="1"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D8D9A"/>
                </a:solidFill>
                <a:latin typeface="PP Neue Montreal Text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3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2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5022A"/>
                </a:solidFill>
                <a:latin typeface="PP Neue Montreal Text"/>
              </a:rPr>
              <a:t>C O L O R   U S A G E</a:t>
            </a:r>
          </a:p>
        </p:txBody>
      </p:sp>
      <p:pic>
        <p:nvPicPr>
          <p:cNvPr id="65" name="Picture 3" descr="Cleartax-logo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502920"/>
            <a:ext cx="1051560" cy="239141"/>
          </a:xfrm>
          <a:prstGeom prst="rect">
            <a:avLst/>
          </a:prstGeom>
        </p:spPr>
      </p:pic>
      <p:sp>
        <p:nvSpPr>
          <p:cNvPr id="66" name="Rounded Rectangle 4"/>
          <p:cNvSpPr/>
          <p:nvPr/>
        </p:nvSpPr>
        <p:spPr>
          <a:xfrm>
            <a:off x="594360" y="1828800"/>
            <a:ext cx="4663440" cy="4663440"/>
          </a:xfrm>
          <a:prstGeom prst="roundRect">
            <a:avLst>
              <a:gd name="adj" fmla="val 6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5"/>
          <p:cNvSpPr/>
          <p:nvPr/>
        </p:nvSpPr>
        <p:spPr>
          <a:xfrm>
            <a:off x="1371600" y="3108960"/>
            <a:ext cx="3108960" cy="3108960"/>
          </a:xfrm>
          <a:prstGeom prst="roundRect">
            <a:avLst>
              <a:gd name="adj" fmla="val 8000"/>
            </a:avLst>
          </a:prstGeom>
          <a:solidFill>
            <a:srgbClr val="050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"/>
          <p:cNvSpPr/>
          <p:nvPr/>
        </p:nvSpPr>
        <p:spPr>
          <a:xfrm>
            <a:off x="1965960" y="4069080"/>
            <a:ext cx="1234440" cy="1234440"/>
          </a:xfrm>
          <a:prstGeom prst="roundRect">
            <a:avLst>
              <a:gd name="adj" fmla="val 12000"/>
            </a:avLst>
          </a:prstGeom>
          <a:solidFill>
            <a:srgbClr val="C8F0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7"/>
          <p:cNvSpPr/>
          <p:nvPr/>
        </p:nvSpPr>
        <p:spPr>
          <a:xfrm>
            <a:off x="1965960" y="5212080"/>
            <a:ext cx="1234440" cy="1234440"/>
          </a:xfrm>
          <a:prstGeom prst="roundRect">
            <a:avLst>
              <a:gd name="adj" fmla="val 12000"/>
            </a:avLst>
          </a:prstGeom>
          <a:solidFill>
            <a:srgbClr val="54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8"/>
          <p:cNvSpPr txBox="1"/>
          <p:nvPr/>
        </p:nvSpPr>
        <p:spPr>
          <a:xfrm>
            <a:off x="2468880" y="219456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5022A"/>
                </a:solidFill>
                <a:latin typeface="PP Neue Montreal"/>
              </a:rPr>
              <a:t>50%</a:t>
            </a:r>
          </a:p>
        </p:txBody>
      </p:sp>
      <p:sp>
        <p:nvSpPr>
          <p:cNvPr id="71" name="TextBox 9"/>
          <p:cNvSpPr txBox="1"/>
          <p:nvPr/>
        </p:nvSpPr>
        <p:spPr>
          <a:xfrm>
            <a:off x="2468880" y="33832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PP Neue Montreal"/>
              </a:rPr>
              <a:t>30%</a:t>
            </a:r>
          </a:p>
        </p:txBody>
      </p:sp>
      <p:sp>
        <p:nvSpPr>
          <p:cNvPr id="72" name="TextBox 10"/>
          <p:cNvSpPr txBox="1"/>
          <p:nvPr/>
        </p:nvSpPr>
        <p:spPr>
          <a:xfrm>
            <a:off x="2560320" y="4544568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5022A"/>
                </a:solidFill>
                <a:latin typeface="PP Neue Montreal"/>
              </a:rPr>
              <a:t>10%</a:t>
            </a:r>
          </a:p>
        </p:txBody>
      </p:sp>
      <p:sp>
        <p:nvSpPr>
          <p:cNvPr id="73" name="TextBox 11"/>
          <p:cNvSpPr txBox="1"/>
          <p:nvPr/>
        </p:nvSpPr>
        <p:spPr>
          <a:xfrm>
            <a:off x="2560320" y="5687568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PP Neue Montreal"/>
              </a:rPr>
              <a:t>10%</a:t>
            </a:r>
          </a:p>
        </p:txBody>
      </p:sp>
      <p:sp>
        <p:nvSpPr>
          <p:cNvPr id="74" name="TextBox 12"/>
          <p:cNvSpPr txBox="1"/>
          <p:nvPr/>
        </p:nvSpPr>
        <p:spPr>
          <a:xfrm>
            <a:off x="6675120" y="2331720"/>
            <a:ext cx="47548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B5B6B"/>
                </a:solidFill>
                <a:latin typeface="PP Neue Montreal Text"/>
              </a:rPr>
              <a:t>Primarily use clean and bright visuals across all mediums to maintain a premium and positive brand appearance.</a:t>
            </a:r>
          </a:p>
        </p:txBody>
      </p:sp>
      <p:sp>
        <p:nvSpPr>
          <p:cNvPr id="75" name="TextBox 13"/>
          <p:cNvSpPr txBox="1"/>
          <p:nvPr/>
        </p:nvSpPr>
        <p:spPr>
          <a:xfrm>
            <a:off x="6675120" y="3566160"/>
            <a:ext cx="47548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B5B6B"/>
                </a:solidFill>
                <a:latin typeface="PP Neue Montreal Text"/>
              </a:rPr>
              <a:t>A deep corporate midnight blue used to convey an authoritative tone in text and logos.</a:t>
            </a:r>
          </a:p>
        </p:txBody>
      </p:sp>
      <p:sp>
        <p:nvSpPr>
          <p:cNvPr id="76" name="TextBox 14"/>
          <p:cNvSpPr txBox="1"/>
          <p:nvPr/>
        </p:nvSpPr>
        <p:spPr>
          <a:xfrm>
            <a:off x="6675120" y="4663440"/>
            <a:ext cx="47548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B5B6B"/>
                </a:solidFill>
                <a:latin typeface="PP Neue Montreal Text"/>
              </a:rPr>
              <a:t>A splash of vibrant electric green to highlight key elements based on the visual hierarchy.</a:t>
            </a:r>
          </a:p>
        </p:txBody>
      </p:sp>
      <p:sp>
        <p:nvSpPr>
          <p:cNvPr id="77" name="TextBox 15"/>
          <p:cNvSpPr txBox="1"/>
          <p:nvPr/>
        </p:nvSpPr>
        <p:spPr>
          <a:xfrm>
            <a:off x="6675120" y="5760720"/>
            <a:ext cx="47548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B5B6B"/>
                </a:solidFill>
                <a:latin typeface="PP Neue Montreal Text"/>
              </a:rPr>
              <a:t>Used for accents and CTAs.</a:t>
            </a:r>
          </a:p>
        </p:txBody>
      </p:sp>
      <p:sp>
        <p:nvSpPr>
          <p:cNvPr id="78" name="TextBox 16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D8D9A"/>
                </a:solidFill>
                <a:latin typeface="PP Neue Montreal Text"/>
              </a:rPr>
              <a:t>cleartax  ·  2026 Design System V1.3</a:t>
            </a:r>
          </a:p>
        </p:txBody>
      </p:sp>
      <p:sp>
        <p:nvSpPr>
          <p:cNvPr id="79" name="TextBox 17"/>
          <p:cNvSpPr txBox="1"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D8D9A"/>
                </a:solidFill>
                <a:latin typeface="PP Neue Montreal Text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0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2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5022A"/>
                </a:solidFill>
                <a:latin typeface="PP Neue Montreal Text"/>
              </a:rPr>
              <a:t>T Y P O G R A P H Y   B E S T   P R A C T I C E S</a:t>
            </a:r>
          </a:p>
        </p:txBody>
      </p:sp>
      <p:pic>
        <p:nvPicPr>
          <p:cNvPr id="82" name="Picture 3" descr="Cleartax-logo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502920"/>
            <a:ext cx="1051560" cy="239141"/>
          </a:xfrm>
          <a:prstGeom prst="rect">
            <a:avLst/>
          </a:prstGeom>
        </p:spPr>
      </p:pic>
      <p:sp>
        <p:nvSpPr>
          <p:cNvPr id="83" name="TextBox 4"/>
          <p:cNvSpPr txBox="1"/>
          <p:nvPr/>
        </p:nvSpPr>
        <p:spPr>
          <a:xfrm>
            <a:off x="685800" y="886968"/>
            <a:ext cx="6949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B5B6B"/>
                </a:solidFill>
                <a:latin typeface="PP Neue Montreal Text"/>
              </a:rPr>
              <a:t>Our typography guidelines ensure consistency, readability,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B5B6B"/>
                </a:solidFill>
                <a:latin typeface="PP Neue Montreal Text"/>
              </a:rPr>
              <a:t>and a clear visual hierarchy across all designs.</a:t>
            </a:r>
          </a:p>
        </p:txBody>
      </p:sp>
      <p:sp>
        <p:nvSpPr>
          <p:cNvPr id="84" name="Oval 5"/>
          <p:cNvSpPr/>
          <p:nvPr/>
        </p:nvSpPr>
        <p:spPr>
          <a:xfrm>
            <a:off x="685800" y="2148840"/>
            <a:ext cx="365760" cy="365760"/>
          </a:xfrm>
          <a:prstGeom prst="ellipse">
            <a:avLst/>
          </a:prstGeom>
          <a:solidFill>
            <a:srgbClr val="E5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6"/>
          <p:cNvSpPr txBox="1"/>
          <p:nvPr/>
        </p:nvSpPr>
        <p:spPr>
          <a:xfrm>
            <a:off x="685800" y="214884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PP Neue Montreal Text"/>
              </a:rPr>
              <a:t>×</a:t>
            </a:r>
          </a:p>
        </p:txBody>
      </p:sp>
      <p:sp>
        <p:nvSpPr>
          <p:cNvPr id="86" name="TextBox 7"/>
          <p:cNvSpPr txBox="1"/>
          <p:nvPr/>
        </p:nvSpPr>
        <p:spPr>
          <a:xfrm>
            <a:off x="685800" y="2679192"/>
            <a:ext cx="34290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05022A"/>
                </a:solidFill>
                <a:latin typeface="PP Neue Montreal Text"/>
              </a:rPr>
              <a:t>Do not make the spacing between lines too tight or too loose</a:t>
            </a:r>
          </a:p>
        </p:txBody>
      </p:sp>
      <p:sp>
        <p:nvSpPr>
          <p:cNvPr id="87" name="Oval 8"/>
          <p:cNvSpPr/>
          <p:nvPr/>
        </p:nvSpPr>
        <p:spPr>
          <a:xfrm>
            <a:off x="4480560" y="2148840"/>
            <a:ext cx="365760" cy="365760"/>
          </a:xfrm>
          <a:prstGeom prst="ellipse">
            <a:avLst/>
          </a:prstGeom>
          <a:solidFill>
            <a:srgbClr val="E5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9"/>
          <p:cNvSpPr txBox="1"/>
          <p:nvPr/>
        </p:nvSpPr>
        <p:spPr>
          <a:xfrm>
            <a:off x="4480560" y="214884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PP Neue Montreal Text"/>
              </a:rPr>
              <a:t>×</a:t>
            </a:r>
          </a:p>
        </p:txBody>
      </p:sp>
      <p:sp>
        <p:nvSpPr>
          <p:cNvPr id="89" name="TextBox 10"/>
          <p:cNvSpPr txBox="1"/>
          <p:nvPr/>
        </p:nvSpPr>
        <p:spPr>
          <a:xfrm>
            <a:off x="4480560" y="2679192"/>
            <a:ext cx="34290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05022A"/>
                </a:solidFill>
                <a:latin typeface="PP Neue Montreal Text"/>
              </a:rPr>
              <a:t>Do not use heavy font weights for headlines</a:t>
            </a:r>
          </a:p>
        </p:txBody>
      </p:sp>
      <p:sp>
        <p:nvSpPr>
          <p:cNvPr id="90" name="Oval 11"/>
          <p:cNvSpPr/>
          <p:nvPr/>
        </p:nvSpPr>
        <p:spPr>
          <a:xfrm>
            <a:off x="8275320" y="2148840"/>
            <a:ext cx="365760" cy="365760"/>
          </a:xfrm>
          <a:prstGeom prst="ellipse">
            <a:avLst/>
          </a:prstGeom>
          <a:solidFill>
            <a:srgbClr val="E5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12"/>
          <p:cNvSpPr txBox="1"/>
          <p:nvPr/>
        </p:nvSpPr>
        <p:spPr>
          <a:xfrm>
            <a:off x="8275320" y="214884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PP Neue Montreal Text"/>
              </a:rPr>
              <a:t>×</a:t>
            </a:r>
          </a:p>
        </p:txBody>
      </p:sp>
      <p:sp>
        <p:nvSpPr>
          <p:cNvPr id="92" name="TextBox 13"/>
          <p:cNvSpPr txBox="1"/>
          <p:nvPr/>
        </p:nvSpPr>
        <p:spPr>
          <a:xfrm>
            <a:off x="8275320" y="2679192"/>
            <a:ext cx="34290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05022A"/>
                </a:solidFill>
                <a:latin typeface="PP Neue Montreal Text"/>
              </a:rPr>
              <a:t>Do not use multiple font weights in headlines</a:t>
            </a:r>
          </a:p>
        </p:txBody>
      </p:sp>
      <p:sp>
        <p:nvSpPr>
          <p:cNvPr id="93" name="Oval 14"/>
          <p:cNvSpPr/>
          <p:nvPr/>
        </p:nvSpPr>
        <p:spPr>
          <a:xfrm>
            <a:off x="685800" y="4069080"/>
            <a:ext cx="365760" cy="365760"/>
          </a:xfrm>
          <a:prstGeom prst="ellipse">
            <a:avLst/>
          </a:prstGeom>
          <a:solidFill>
            <a:srgbClr val="E5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15"/>
          <p:cNvSpPr txBox="1"/>
          <p:nvPr/>
        </p:nvSpPr>
        <p:spPr>
          <a:xfrm>
            <a:off x="685800" y="406908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PP Neue Montreal Text"/>
              </a:rPr>
              <a:t>×</a:t>
            </a:r>
          </a:p>
        </p:txBody>
      </p:sp>
      <p:sp>
        <p:nvSpPr>
          <p:cNvPr id="95" name="TextBox 16"/>
          <p:cNvSpPr txBox="1"/>
          <p:nvPr/>
        </p:nvSpPr>
        <p:spPr>
          <a:xfrm>
            <a:off x="685800" y="4599432"/>
            <a:ext cx="34290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05022A"/>
                </a:solidFill>
                <a:latin typeface="PP Neue Montreal Text"/>
              </a:rPr>
              <a:t>Do not introduce any new typefaces</a:t>
            </a:r>
          </a:p>
        </p:txBody>
      </p:sp>
      <p:sp>
        <p:nvSpPr>
          <p:cNvPr id="96" name="Oval 17"/>
          <p:cNvSpPr/>
          <p:nvPr/>
        </p:nvSpPr>
        <p:spPr>
          <a:xfrm>
            <a:off x="4480560" y="4069080"/>
            <a:ext cx="365760" cy="365760"/>
          </a:xfrm>
          <a:prstGeom prst="ellipse">
            <a:avLst/>
          </a:prstGeom>
          <a:solidFill>
            <a:srgbClr val="E5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18"/>
          <p:cNvSpPr txBox="1"/>
          <p:nvPr/>
        </p:nvSpPr>
        <p:spPr>
          <a:xfrm>
            <a:off x="4480560" y="406908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PP Neue Montreal Text"/>
              </a:rPr>
              <a:t>×</a:t>
            </a:r>
          </a:p>
        </p:txBody>
      </p:sp>
      <p:sp>
        <p:nvSpPr>
          <p:cNvPr id="98" name="TextBox 19"/>
          <p:cNvSpPr txBox="1"/>
          <p:nvPr/>
        </p:nvSpPr>
        <p:spPr>
          <a:xfrm>
            <a:off x="4480560" y="4599432"/>
            <a:ext cx="34290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05022A"/>
                </a:solidFill>
                <a:latin typeface="PP Neue Montreal Text"/>
              </a:rPr>
              <a:t>Do not add icons or images between text</a:t>
            </a:r>
          </a:p>
        </p:txBody>
      </p:sp>
      <p:sp>
        <p:nvSpPr>
          <p:cNvPr id="99" name="TextBox 20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D8D9A"/>
                </a:solidFill>
                <a:latin typeface="PP Neue Montreal Text"/>
              </a:rPr>
              <a:t>cleartax  ·  2026 Design System V1.3</a:t>
            </a:r>
          </a:p>
        </p:txBody>
      </p:sp>
      <p:sp>
        <p:nvSpPr>
          <p:cNvPr id="100" name="TextBox 21"/>
          <p:cNvSpPr txBox="1"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D8D9A"/>
                </a:solidFill>
                <a:latin typeface="PP Neue Montreal Text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1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2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5022A"/>
                </a:solidFill>
                <a:latin typeface="PP Neue Montreal Text"/>
              </a:rPr>
              <a:t>G E O M E T R I C   S H A P E S</a:t>
            </a:r>
          </a:p>
        </p:txBody>
      </p:sp>
      <p:pic>
        <p:nvPicPr>
          <p:cNvPr id="103" name="Picture 3" descr="Cleartax-logo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502920"/>
            <a:ext cx="1051560" cy="239141"/>
          </a:xfrm>
          <a:prstGeom prst="rect">
            <a:avLst/>
          </a:prstGeom>
        </p:spPr>
      </p:pic>
      <p:sp>
        <p:nvSpPr>
          <p:cNvPr id="104" name="TextBox 4"/>
          <p:cNvSpPr txBox="1"/>
          <p:nvPr/>
        </p:nvSpPr>
        <p:spPr>
          <a:xfrm>
            <a:off x="685800" y="886968"/>
            <a:ext cx="6949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B5B6B"/>
                </a:solidFill>
                <a:latin typeface="PP Neue Montreal Text"/>
              </a:rPr>
              <a:t>Simple geometric shapes create a consistent, modern,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B5B6B"/>
                </a:solidFill>
                <a:latin typeface="PP Neue Montreal Text"/>
              </a:rPr>
              <a:t>and recognizable visual language across our brand.</a:t>
            </a:r>
          </a:p>
        </p:txBody>
      </p:sp>
      <p:sp>
        <p:nvSpPr>
          <p:cNvPr id="105" name="Oval 5"/>
          <p:cNvSpPr/>
          <p:nvPr/>
        </p:nvSpPr>
        <p:spPr>
          <a:xfrm>
            <a:off x="1394460" y="2811780"/>
            <a:ext cx="1051560" cy="1051560"/>
          </a:xfrm>
          <a:prstGeom prst="ellipse">
            <a:avLst/>
          </a:prstGeom>
          <a:solidFill>
            <a:srgbClr val="54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6"/>
          <p:cNvSpPr/>
          <p:nvPr/>
        </p:nvSpPr>
        <p:spPr>
          <a:xfrm>
            <a:off x="3863340" y="2811780"/>
            <a:ext cx="1051560" cy="1051560"/>
          </a:xfrm>
          <a:prstGeom prst="roundRect">
            <a:avLst>
              <a:gd name="adj" fmla="val 22000"/>
            </a:avLst>
          </a:prstGeom>
          <a:solidFill>
            <a:srgbClr val="54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7"/>
          <p:cNvSpPr/>
          <p:nvPr/>
        </p:nvSpPr>
        <p:spPr>
          <a:xfrm>
            <a:off x="6286500" y="2990088"/>
            <a:ext cx="1143000" cy="804672"/>
          </a:xfrm>
          <a:prstGeom prst="roundRect">
            <a:avLst>
              <a:gd name="adj" fmla="val 22000"/>
            </a:avLst>
          </a:prstGeom>
          <a:solidFill>
            <a:srgbClr val="54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8"/>
          <p:cNvSpPr/>
          <p:nvPr/>
        </p:nvSpPr>
        <p:spPr>
          <a:xfrm>
            <a:off x="6286500" y="2880360"/>
            <a:ext cx="502920" cy="256032"/>
          </a:xfrm>
          <a:prstGeom prst="roundRect">
            <a:avLst>
              <a:gd name="adj" fmla="val 35000"/>
            </a:avLst>
          </a:prstGeom>
          <a:solidFill>
            <a:srgbClr val="54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9"/>
          <p:cNvSpPr/>
          <p:nvPr/>
        </p:nvSpPr>
        <p:spPr>
          <a:xfrm>
            <a:off x="9262872" y="2770632"/>
            <a:ext cx="128016" cy="566928"/>
          </a:xfrm>
          <a:prstGeom prst="roundRect">
            <a:avLst>
              <a:gd name="adj" fmla="val 50000"/>
            </a:avLst>
          </a:prstGeom>
          <a:solidFill>
            <a:srgbClr val="54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"/>
          <p:cNvSpPr/>
          <p:nvPr/>
        </p:nvSpPr>
        <p:spPr>
          <a:xfrm rot="1800000">
            <a:off x="9262872" y="2770632"/>
            <a:ext cx="128016" cy="566928"/>
          </a:xfrm>
          <a:prstGeom prst="roundRect">
            <a:avLst>
              <a:gd name="adj" fmla="val 50000"/>
            </a:avLst>
          </a:prstGeom>
          <a:solidFill>
            <a:srgbClr val="54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"/>
          <p:cNvSpPr/>
          <p:nvPr/>
        </p:nvSpPr>
        <p:spPr>
          <a:xfrm rot="3600000">
            <a:off x="9262872" y="2770632"/>
            <a:ext cx="128016" cy="566928"/>
          </a:xfrm>
          <a:prstGeom prst="roundRect">
            <a:avLst>
              <a:gd name="adj" fmla="val 50000"/>
            </a:avLst>
          </a:prstGeom>
          <a:solidFill>
            <a:srgbClr val="54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2"/>
          <p:cNvSpPr/>
          <p:nvPr/>
        </p:nvSpPr>
        <p:spPr>
          <a:xfrm rot="5400000">
            <a:off x="9262872" y="2770632"/>
            <a:ext cx="128016" cy="566928"/>
          </a:xfrm>
          <a:prstGeom prst="roundRect">
            <a:avLst>
              <a:gd name="adj" fmla="val 50000"/>
            </a:avLst>
          </a:prstGeom>
          <a:solidFill>
            <a:srgbClr val="54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3"/>
          <p:cNvSpPr/>
          <p:nvPr/>
        </p:nvSpPr>
        <p:spPr>
          <a:xfrm rot="7200000">
            <a:off x="9262872" y="2770632"/>
            <a:ext cx="128016" cy="566928"/>
          </a:xfrm>
          <a:prstGeom prst="roundRect">
            <a:avLst>
              <a:gd name="adj" fmla="val 50000"/>
            </a:avLst>
          </a:prstGeom>
          <a:solidFill>
            <a:srgbClr val="54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ounded Rectangle 14"/>
          <p:cNvSpPr/>
          <p:nvPr/>
        </p:nvSpPr>
        <p:spPr>
          <a:xfrm rot="9000000">
            <a:off x="9262872" y="2770632"/>
            <a:ext cx="128016" cy="566928"/>
          </a:xfrm>
          <a:prstGeom prst="roundRect">
            <a:avLst>
              <a:gd name="adj" fmla="val 50000"/>
            </a:avLst>
          </a:prstGeom>
          <a:solidFill>
            <a:srgbClr val="54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5"/>
          <p:cNvSpPr/>
          <p:nvPr/>
        </p:nvSpPr>
        <p:spPr>
          <a:xfrm rot="10800000">
            <a:off x="9262872" y="2770632"/>
            <a:ext cx="128016" cy="566928"/>
          </a:xfrm>
          <a:prstGeom prst="roundRect">
            <a:avLst>
              <a:gd name="adj" fmla="val 50000"/>
            </a:avLst>
          </a:prstGeom>
          <a:solidFill>
            <a:srgbClr val="54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6"/>
          <p:cNvSpPr/>
          <p:nvPr/>
        </p:nvSpPr>
        <p:spPr>
          <a:xfrm rot="12600000">
            <a:off x="9262872" y="2770632"/>
            <a:ext cx="128016" cy="566928"/>
          </a:xfrm>
          <a:prstGeom prst="roundRect">
            <a:avLst>
              <a:gd name="adj" fmla="val 50000"/>
            </a:avLst>
          </a:prstGeom>
          <a:solidFill>
            <a:srgbClr val="54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ounded Rectangle 17"/>
          <p:cNvSpPr/>
          <p:nvPr/>
        </p:nvSpPr>
        <p:spPr>
          <a:xfrm rot="14400000">
            <a:off x="9262872" y="2770632"/>
            <a:ext cx="128016" cy="566928"/>
          </a:xfrm>
          <a:prstGeom prst="roundRect">
            <a:avLst>
              <a:gd name="adj" fmla="val 50000"/>
            </a:avLst>
          </a:prstGeom>
          <a:solidFill>
            <a:srgbClr val="54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ounded Rectangle 18"/>
          <p:cNvSpPr/>
          <p:nvPr/>
        </p:nvSpPr>
        <p:spPr>
          <a:xfrm rot="16200000">
            <a:off x="9262872" y="2770632"/>
            <a:ext cx="128016" cy="566928"/>
          </a:xfrm>
          <a:prstGeom prst="roundRect">
            <a:avLst>
              <a:gd name="adj" fmla="val 50000"/>
            </a:avLst>
          </a:prstGeom>
          <a:solidFill>
            <a:srgbClr val="54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ounded Rectangle 19"/>
          <p:cNvSpPr/>
          <p:nvPr/>
        </p:nvSpPr>
        <p:spPr>
          <a:xfrm rot="18000000">
            <a:off x="9262872" y="2770632"/>
            <a:ext cx="128016" cy="566928"/>
          </a:xfrm>
          <a:prstGeom prst="roundRect">
            <a:avLst>
              <a:gd name="adj" fmla="val 50000"/>
            </a:avLst>
          </a:prstGeom>
          <a:solidFill>
            <a:srgbClr val="54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ounded Rectangle 20"/>
          <p:cNvSpPr/>
          <p:nvPr/>
        </p:nvSpPr>
        <p:spPr>
          <a:xfrm rot="19800000">
            <a:off x="9262872" y="2770632"/>
            <a:ext cx="128016" cy="566928"/>
          </a:xfrm>
          <a:prstGeom prst="roundRect">
            <a:avLst>
              <a:gd name="adj" fmla="val 50000"/>
            </a:avLst>
          </a:prstGeom>
          <a:solidFill>
            <a:srgbClr val="54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ounded Rectangle 21"/>
          <p:cNvSpPr/>
          <p:nvPr/>
        </p:nvSpPr>
        <p:spPr>
          <a:xfrm>
            <a:off x="1303020" y="5120640"/>
            <a:ext cx="1234440" cy="457200"/>
          </a:xfrm>
          <a:prstGeom prst="roundRect">
            <a:avLst>
              <a:gd name="adj" fmla="val 50000"/>
            </a:avLst>
          </a:prstGeom>
          <a:solidFill>
            <a:srgbClr val="54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4-Point Star 22"/>
          <p:cNvSpPr/>
          <p:nvPr/>
        </p:nvSpPr>
        <p:spPr>
          <a:xfrm>
            <a:off x="3840480" y="4800600"/>
            <a:ext cx="1097280" cy="1097280"/>
          </a:xfrm>
          <a:prstGeom prst="star4">
            <a:avLst/>
          </a:prstGeom>
          <a:solidFill>
            <a:srgbClr val="54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24-Point Star 23"/>
          <p:cNvSpPr/>
          <p:nvPr/>
        </p:nvSpPr>
        <p:spPr>
          <a:xfrm>
            <a:off x="6309360" y="4800600"/>
            <a:ext cx="1097280" cy="1097280"/>
          </a:xfrm>
          <a:prstGeom prst="star24">
            <a:avLst>
              <a:gd name="adj" fmla="val 92000"/>
            </a:avLst>
          </a:prstGeom>
          <a:solidFill>
            <a:srgbClr val="54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Chevron 24"/>
          <p:cNvSpPr/>
          <p:nvPr/>
        </p:nvSpPr>
        <p:spPr>
          <a:xfrm>
            <a:off x="8572500" y="5029200"/>
            <a:ext cx="777240" cy="640080"/>
          </a:xfrm>
          <a:prstGeom prst="chevron">
            <a:avLst/>
          </a:prstGeom>
          <a:solidFill>
            <a:srgbClr val="54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Chevron 25"/>
          <p:cNvSpPr/>
          <p:nvPr/>
        </p:nvSpPr>
        <p:spPr>
          <a:xfrm>
            <a:off x="9230868" y="5029200"/>
            <a:ext cx="777240" cy="640080"/>
          </a:xfrm>
          <a:prstGeom prst="chevron">
            <a:avLst/>
          </a:prstGeom>
          <a:solidFill>
            <a:srgbClr val="54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26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D8D9A"/>
                </a:solidFill>
                <a:latin typeface="PP Neue Montreal Text"/>
              </a:rPr>
              <a:t>cleartax  ·  2026 Design System V1.3</a:t>
            </a:r>
          </a:p>
        </p:txBody>
      </p:sp>
      <p:sp>
        <p:nvSpPr>
          <p:cNvPr id="127" name="TextBox 27"/>
          <p:cNvSpPr txBox="1"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D8D9A"/>
                </a:solidFill>
                <a:latin typeface="PP Neue Montreal Text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8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2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5022A"/>
                </a:solidFill>
                <a:latin typeface="PP Neue Montreal Text"/>
              </a:rPr>
              <a:t>I C O N O G R A P H Y</a:t>
            </a:r>
          </a:p>
        </p:txBody>
      </p:sp>
      <p:pic>
        <p:nvPicPr>
          <p:cNvPr id="130" name="Picture 3" descr="Cleartax-logo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502920"/>
            <a:ext cx="1051560" cy="239141"/>
          </a:xfrm>
          <a:prstGeom prst="rect">
            <a:avLst/>
          </a:prstGeom>
        </p:spPr>
      </p:pic>
      <p:sp>
        <p:nvSpPr>
          <p:cNvPr id="131" name="TextBox 4"/>
          <p:cNvSpPr txBox="1"/>
          <p:nvPr/>
        </p:nvSpPr>
        <p:spPr>
          <a:xfrm>
            <a:off x="685800" y="886968"/>
            <a:ext cx="6949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B5B6B"/>
                </a:solidFill>
                <a:latin typeface="PP Neue Montreal Text"/>
              </a:rPr>
              <a:t>Clean, consistent, and minimal line icons to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B5B6B"/>
                </a:solidFill>
                <a:latin typeface="PP Neue Montreal Text"/>
              </a:rPr>
              <a:t>improve clarity and reinforce our visual identity.</a:t>
            </a:r>
          </a:p>
        </p:txBody>
      </p:sp>
      <p:pic>
        <p:nvPicPr>
          <p:cNvPr id="132" name="Picture 5" descr="iconograph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5907" y="2057400"/>
            <a:ext cx="9299881" cy="4114800"/>
          </a:xfrm>
          <a:prstGeom prst="rect">
            <a:avLst/>
          </a:prstGeom>
        </p:spPr>
      </p:pic>
      <p:sp>
        <p:nvSpPr>
          <p:cNvPr id="133" name="TextBox 6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D8D9A"/>
                </a:solidFill>
                <a:latin typeface="PP Neue Montreal Text"/>
              </a:rPr>
              <a:t>cleartax  ·  2026 Design System V1.3</a:t>
            </a:r>
          </a:p>
        </p:txBody>
      </p:sp>
      <p:sp>
        <p:nvSpPr>
          <p:cNvPr id="134" name="TextBox 7"/>
          <p:cNvSpPr txBox="1"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D8D9A"/>
                </a:solidFill>
                <a:latin typeface="PP Neue Montreal Text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5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2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5022A"/>
                </a:solidFill>
                <a:latin typeface="PP Neue Montreal Text"/>
              </a:rPr>
              <a:t>R E A L - W O R L D   A P P L I C A T I O N S   ·   D E C K S</a:t>
            </a:r>
          </a:p>
        </p:txBody>
      </p:sp>
      <p:pic>
        <p:nvPicPr>
          <p:cNvPr id="137" name="Picture 3" descr="Cleartax-logo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502920"/>
            <a:ext cx="1051560" cy="239141"/>
          </a:xfrm>
          <a:prstGeom prst="rect">
            <a:avLst/>
          </a:prstGeom>
        </p:spPr>
      </p:pic>
      <p:pic>
        <p:nvPicPr>
          <p:cNvPr id="138" name="Picture 4" descr="dec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3662" y="1737360"/>
            <a:ext cx="8324370" cy="4709160"/>
          </a:xfrm>
          <a:prstGeom prst="rect">
            <a:avLst/>
          </a:prstGeom>
        </p:spPr>
      </p:pic>
      <p:sp>
        <p:nvSpPr>
          <p:cNvPr id="139" name="TextBox 5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D8D9A"/>
                </a:solidFill>
                <a:latin typeface="PP Neue Montreal Text"/>
              </a:rPr>
              <a:t>cleartax  ·  2026 Design System V1.3</a:t>
            </a:r>
          </a:p>
        </p:txBody>
      </p:sp>
      <p:sp>
        <p:nvSpPr>
          <p:cNvPr id="140" name="TextBox 6"/>
          <p:cNvSpPr txBox="1"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D8D9A"/>
                </a:solidFill>
                <a:latin typeface="PP Neue Montreal Text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1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2" name="Picture 2" descr="dotgrid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0"/>
            <a:ext cx="4023360" cy="6858000"/>
          </a:xfrm>
          <a:prstGeom prst="rect">
            <a:avLst/>
          </a:prstGeom>
        </p:spPr>
      </p:pic>
      <p:pic>
        <p:nvPicPr>
          <p:cNvPr id="143" name="Picture 3" descr="Cleartax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35" y="502920"/>
            <a:ext cx="1051560" cy="239141"/>
          </a:xfrm>
          <a:prstGeom prst="rect">
            <a:avLst/>
          </a:prstGeom>
        </p:spPr>
      </p:pic>
      <p:sp>
        <p:nvSpPr>
          <p:cNvPr id="144" name="TextBox 4"/>
          <p:cNvSpPr txBox="1"/>
          <p:nvPr/>
        </p:nvSpPr>
        <p:spPr>
          <a:xfrm>
            <a:off x="685800" y="2286000"/>
            <a:ext cx="7863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PP Neue Montreal"/>
              </a:rPr>
              <a:t>One system. Every touchpoint.</a:t>
            </a:r>
          </a:p>
        </p:txBody>
      </p:sp>
      <p:sp>
        <p:nvSpPr>
          <p:cNvPr id="145" name="TextBox 5"/>
          <p:cNvSpPr txBox="1"/>
          <p:nvPr/>
        </p:nvSpPr>
        <p:spPr>
          <a:xfrm>
            <a:off x="685800" y="3246120"/>
            <a:ext cx="6949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C9C9D6"/>
                </a:solidFill>
                <a:latin typeface="PP Neue Montreal Text"/>
              </a:rPr>
              <a:t>From decks to merchandise, the 2026 rebrand keeps Cleartax consistent,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C9C9D6"/>
                </a:solidFill>
                <a:latin typeface="PP Neue Montreal Text"/>
              </a:rPr>
              <a:t>confident, and unmistakably ours.</a:t>
            </a:r>
          </a:p>
        </p:txBody>
      </p:sp>
      <p:sp>
        <p:nvSpPr>
          <p:cNvPr id="146" name="Rounded Rectangle 6"/>
          <p:cNvSpPr/>
          <p:nvPr/>
        </p:nvSpPr>
        <p:spPr>
          <a:xfrm>
            <a:off x="685800" y="4572000"/>
            <a:ext cx="2331720" cy="548640"/>
          </a:xfrm>
          <a:prstGeom prst="roundRect">
            <a:avLst>
              <a:gd name="adj" fmla="val 28000"/>
            </a:avLst>
          </a:prstGeom>
          <a:solidFill>
            <a:srgbClr val="54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PP Neue Montreal Text"/>
              </a:rPr>
              <a:t>Book a demo</a:t>
            </a:r>
          </a:p>
        </p:txBody>
      </p:sp>
      <p:sp>
        <p:nvSpPr>
          <p:cNvPr id="147" name="TextBox 7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C9C9D6"/>
                </a:solidFill>
                <a:latin typeface="PP Neue Montreal Text"/>
              </a:rPr>
              <a:t>cleartax  ·  2026 Design System V1.3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